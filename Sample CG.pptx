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147471083" r:id="rId2"/>
    <p:sldId id="2147471084"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653F81-81EE-4F86-A11F-DBB8FE695228}" type="datetimeFigureOut">
              <a:rPr lang="en-IN" smtClean="0"/>
              <a:t>20-07-2026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CF9605-BF46-41CF-BB2D-41560E695AA0}" type="slidenum">
              <a:rPr lang="en-IN" smtClean="0"/>
              <a:t>‹#›</a:t>
            </a:fld>
            <a:endParaRPr lang="en-IN"/>
          </a:p>
        </p:txBody>
      </p:sp>
    </p:spTree>
    <p:extLst>
      <p:ext uri="{BB962C8B-B14F-4D97-AF65-F5344CB8AC3E}">
        <p14:creationId xmlns:p14="http://schemas.microsoft.com/office/powerpoint/2010/main" val="9979448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B02AD-A16A-7989-7259-1BF42C03A2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AD62A0-C84A-0173-22A0-FF27BBDD8FE9}"/>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D5059764-CC95-38DF-8F94-45888168112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2A042C3-4B6B-B971-0C17-853EAF7122C6}"/>
              </a:ext>
            </a:extLst>
          </p:cNvPr>
          <p:cNvSpPr>
            <a:spLocks noGrp="1"/>
          </p:cNvSpPr>
          <p:nvPr>
            <p:ph type="sldNum" sz="quarter" idx="5"/>
          </p:nvPr>
        </p:nvSpPr>
        <p:spPr/>
        <p:txBody>
          <a:bodyPr/>
          <a:lstStyle/>
          <a:p>
            <a:fld id="{88D68F96-FDA6-4706-855F-366F30A49F2C}" type="slidenum">
              <a:rPr lang="en-US" smtClean="0"/>
              <a:t>1</a:t>
            </a:fld>
            <a:endParaRPr lang="en-US" dirty="0"/>
          </a:p>
        </p:txBody>
      </p:sp>
    </p:spTree>
    <p:extLst>
      <p:ext uri="{BB962C8B-B14F-4D97-AF65-F5344CB8AC3E}">
        <p14:creationId xmlns:p14="http://schemas.microsoft.com/office/powerpoint/2010/main" val="3864203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AC0CA-02BC-7A30-E1DC-8DEB538895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3422B3-2677-92ED-EB03-E72CED88EC87}"/>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39A70EE6-DBC4-9BD2-FAA1-EE6FE2356EC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4E19842-D898-91A9-5927-963A37447418}"/>
              </a:ext>
            </a:extLst>
          </p:cNvPr>
          <p:cNvSpPr>
            <a:spLocks noGrp="1"/>
          </p:cNvSpPr>
          <p:nvPr>
            <p:ph type="sldNum" sz="quarter" idx="5"/>
          </p:nvPr>
        </p:nvSpPr>
        <p:spPr/>
        <p:txBody>
          <a:bodyPr/>
          <a:lstStyle/>
          <a:p>
            <a:fld id="{88D68F96-FDA6-4706-855F-366F30A49F2C}" type="slidenum">
              <a:rPr lang="en-US" smtClean="0"/>
              <a:t>2</a:t>
            </a:fld>
            <a:endParaRPr lang="en-US" dirty="0"/>
          </a:p>
        </p:txBody>
      </p:sp>
    </p:spTree>
    <p:extLst>
      <p:ext uri="{BB962C8B-B14F-4D97-AF65-F5344CB8AC3E}">
        <p14:creationId xmlns:p14="http://schemas.microsoft.com/office/powerpoint/2010/main" val="16743105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5E2FE-8ED5-371F-A314-3E0C511151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DA86EBD-7218-D37A-F366-3432BB894D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7708574-6C83-959E-BA43-1D0E7D4905ED}"/>
              </a:ext>
            </a:extLst>
          </p:cNvPr>
          <p:cNvSpPr>
            <a:spLocks noGrp="1"/>
          </p:cNvSpPr>
          <p:nvPr>
            <p:ph type="dt" sz="half" idx="10"/>
          </p:nvPr>
        </p:nvSpPr>
        <p:spPr/>
        <p:txBody>
          <a:bodyPr/>
          <a:lstStyle/>
          <a:p>
            <a:fld id="{5C62FCFE-4E5E-49D1-87E7-88D7153C0B6A}" type="datetimeFigureOut">
              <a:rPr lang="en-IN" smtClean="0"/>
              <a:t>20-07-2026</a:t>
            </a:fld>
            <a:endParaRPr lang="en-IN"/>
          </a:p>
        </p:txBody>
      </p:sp>
      <p:sp>
        <p:nvSpPr>
          <p:cNvPr id="5" name="Footer Placeholder 4">
            <a:extLst>
              <a:ext uri="{FF2B5EF4-FFF2-40B4-BE49-F238E27FC236}">
                <a16:creationId xmlns:a16="http://schemas.microsoft.com/office/drawing/2014/main" id="{2401F3B3-CA19-A2F3-8218-A1DE63E0F8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9848B8-C782-0C00-2CEA-04E1435BF58B}"/>
              </a:ext>
            </a:extLst>
          </p:cNvPr>
          <p:cNvSpPr>
            <a:spLocks noGrp="1"/>
          </p:cNvSpPr>
          <p:nvPr>
            <p:ph type="sldNum" sz="quarter" idx="12"/>
          </p:nvPr>
        </p:nvSpPr>
        <p:spPr/>
        <p:txBody>
          <a:bodyPr/>
          <a:lstStyle/>
          <a:p>
            <a:fld id="{2053A71E-1442-47C0-AA8E-630F9D1BD316}" type="slidenum">
              <a:rPr lang="en-IN" smtClean="0"/>
              <a:t>‹#›</a:t>
            </a:fld>
            <a:endParaRPr lang="en-IN"/>
          </a:p>
        </p:txBody>
      </p:sp>
    </p:spTree>
    <p:extLst>
      <p:ext uri="{BB962C8B-B14F-4D97-AF65-F5344CB8AC3E}">
        <p14:creationId xmlns:p14="http://schemas.microsoft.com/office/powerpoint/2010/main" val="27085104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7E83A-DE1C-2B92-F975-D2B8B984B0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06E92E1-4EEC-82F2-573E-D2381AA327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1E181F-EB9D-FAD7-57D0-2DF0EFF86902}"/>
              </a:ext>
            </a:extLst>
          </p:cNvPr>
          <p:cNvSpPr>
            <a:spLocks noGrp="1"/>
          </p:cNvSpPr>
          <p:nvPr>
            <p:ph type="dt" sz="half" idx="10"/>
          </p:nvPr>
        </p:nvSpPr>
        <p:spPr/>
        <p:txBody>
          <a:bodyPr/>
          <a:lstStyle/>
          <a:p>
            <a:fld id="{5C62FCFE-4E5E-49D1-87E7-88D7153C0B6A}" type="datetimeFigureOut">
              <a:rPr lang="en-IN" smtClean="0"/>
              <a:t>20-07-2026</a:t>
            </a:fld>
            <a:endParaRPr lang="en-IN"/>
          </a:p>
        </p:txBody>
      </p:sp>
      <p:sp>
        <p:nvSpPr>
          <p:cNvPr id="5" name="Footer Placeholder 4">
            <a:extLst>
              <a:ext uri="{FF2B5EF4-FFF2-40B4-BE49-F238E27FC236}">
                <a16:creationId xmlns:a16="http://schemas.microsoft.com/office/drawing/2014/main" id="{698142E8-0E7E-890A-5B4F-42B09284C0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D92792-91B5-B7D5-DFD8-C1FAEE2C6CDB}"/>
              </a:ext>
            </a:extLst>
          </p:cNvPr>
          <p:cNvSpPr>
            <a:spLocks noGrp="1"/>
          </p:cNvSpPr>
          <p:nvPr>
            <p:ph type="sldNum" sz="quarter" idx="12"/>
          </p:nvPr>
        </p:nvSpPr>
        <p:spPr/>
        <p:txBody>
          <a:bodyPr/>
          <a:lstStyle/>
          <a:p>
            <a:fld id="{2053A71E-1442-47C0-AA8E-630F9D1BD316}" type="slidenum">
              <a:rPr lang="en-IN" smtClean="0"/>
              <a:t>‹#›</a:t>
            </a:fld>
            <a:endParaRPr lang="en-IN"/>
          </a:p>
        </p:txBody>
      </p:sp>
    </p:spTree>
    <p:extLst>
      <p:ext uri="{BB962C8B-B14F-4D97-AF65-F5344CB8AC3E}">
        <p14:creationId xmlns:p14="http://schemas.microsoft.com/office/powerpoint/2010/main" val="700169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ECF41-7745-172D-6AD0-46A608BA56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24387A6-431E-DD2F-09D9-90B1A0E56BF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868097-1B8F-C32A-C911-0A8FE6E944DF}"/>
              </a:ext>
            </a:extLst>
          </p:cNvPr>
          <p:cNvSpPr>
            <a:spLocks noGrp="1"/>
          </p:cNvSpPr>
          <p:nvPr>
            <p:ph type="dt" sz="half" idx="10"/>
          </p:nvPr>
        </p:nvSpPr>
        <p:spPr/>
        <p:txBody>
          <a:bodyPr/>
          <a:lstStyle/>
          <a:p>
            <a:fld id="{5C62FCFE-4E5E-49D1-87E7-88D7153C0B6A}" type="datetimeFigureOut">
              <a:rPr lang="en-IN" smtClean="0"/>
              <a:t>20-07-2026</a:t>
            </a:fld>
            <a:endParaRPr lang="en-IN"/>
          </a:p>
        </p:txBody>
      </p:sp>
      <p:sp>
        <p:nvSpPr>
          <p:cNvPr id="5" name="Footer Placeholder 4">
            <a:extLst>
              <a:ext uri="{FF2B5EF4-FFF2-40B4-BE49-F238E27FC236}">
                <a16:creationId xmlns:a16="http://schemas.microsoft.com/office/drawing/2014/main" id="{91F49A7C-635E-059E-F806-BEEF65ED80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E273B3-C599-4BAD-08A5-EE7DFD5BEB00}"/>
              </a:ext>
            </a:extLst>
          </p:cNvPr>
          <p:cNvSpPr>
            <a:spLocks noGrp="1"/>
          </p:cNvSpPr>
          <p:nvPr>
            <p:ph type="sldNum" sz="quarter" idx="12"/>
          </p:nvPr>
        </p:nvSpPr>
        <p:spPr/>
        <p:txBody>
          <a:bodyPr/>
          <a:lstStyle/>
          <a:p>
            <a:fld id="{2053A71E-1442-47C0-AA8E-630F9D1BD316}" type="slidenum">
              <a:rPr lang="en-IN" smtClean="0"/>
              <a:t>‹#›</a:t>
            </a:fld>
            <a:endParaRPr lang="en-IN"/>
          </a:p>
        </p:txBody>
      </p:sp>
    </p:spTree>
    <p:extLst>
      <p:ext uri="{BB962C8B-B14F-4D97-AF65-F5344CB8AC3E}">
        <p14:creationId xmlns:p14="http://schemas.microsoft.com/office/powerpoint/2010/main" val="38059231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F798D-3CAE-17A1-8DA6-2CA43C904A0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55BC52F-25C4-66C5-9D9B-325CB3D8B18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C72AD05-70D9-3042-3BE8-EE6129EB209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50A92E5-B091-9FE2-6B14-D75B98C40CEA}"/>
              </a:ext>
            </a:extLst>
          </p:cNvPr>
          <p:cNvSpPr>
            <a:spLocks noGrp="1"/>
          </p:cNvSpPr>
          <p:nvPr>
            <p:ph type="dt" sz="half" idx="10"/>
          </p:nvPr>
        </p:nvSpPr>
        <p:spPr/>
        <p:txBody>
          <a:bodyPr/>
          <a:lstStyle/>
          <a:p>
            <a:fld id="{5C62FCFE-4E5E-49D1-87E7-88D7153C0B6A}" type="datetimeFigureOut">
              <a:rPr lang="en-IN" smtClean="0"/>
              <a:t>20-07-2026</a:t>
            </a:fld>
            <a:endParaRPr lang="en-IN"/>
          </a:p>
        </p:txBody>
      </p:sp>
      <p:sp>
        <p:nvSpPr>
          <p:cNvPr id="6" name="Footer Placeholder 5">
            <a:extLst>
              <a:ext uri="{FF2B5EF4-FFF2-40B4-BE49-F238E27FC236}">
                <a16:creationId xmlns:a16="http://schemas.microsoft.com/office/drawing/2014/main" id="{D112DB65-FA00-1DF1-5667-BC963903EB7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28F03D-B892-12FA-A2D5-5CF22E01F5B3}"/>
              </a:ext>
            </a:extLst>
          </p:cNvPr>
          <p:cNvSpPr>
            <a:spLocks noGrp="1"/>
          </p:cNvSpPr>
          <p:nvPr>
            <p:ph type="sldNum" sz="quarter" idx="12"/>
          </p:nvPr>
        </p:nvSpPr>
        <p:spPr/>
        <p:txBody>
          <a:bodyPr/>
          <a:lstStyle/>
          <a:p>
            <a:fld id="{2053A71E-1442-47C0-AA8E-630F9D1BD316}" type="slidenum">
              <a:rPr lang="en-IN" smtClean="0"/>
              <a:t>‹#›</a:t>
            </a:fld>
            <a:endParaRPr lang="en-IN"/>
          </a:p>
        </p:txBody>
      </p:sp>
    </p:spTree>
    <p:extLst>
      <p:ext uri="{BB962C8B-B14F-4D97-AF65-F5344CB8AC3E}">
        <p14:creationId xmlns:p14="http://schemas.microsoft.com/office/powerpoint/2010/main" val="1248190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009D3-8F25-473A-977D-7A4FEA017B9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B072992-5FDC-F600-ACBC-4428A86349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91C53F-01A6-CADC-04D0-BF196FAFD7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32624D2-F14E-EBBB-E738-75CA706F78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C7C072-DBE0-D894-B5DA-20873D81895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ED72CBC-C88C-1C38-284D-C300E56CBA5F}"/>
              </a:ext>
            </a:extLst>
          </p:cNvPr>
          <p:cNvSpPr>
            <a:spLocks noGrp="1"/>
          </p:cNvSpPr>
          <p:nvPr>
            <p:ph type="dt" sz="half" idx="10"/>
          </p:nvPr>
        </p:nvSpPr>
        <p:spPr/>
        <p:txBody>
          <a:bodyPr/>
          <a:lstStyle/>
          <a:p>
            <a:fld id="{5C62FCFE-4E5E-49D1-87E7-88D7153C0B6A}" type="datetimeFigureOut">
              <a:rPr lang="en-IN" smtClean="0"/>
              <a:t>20-07-2026</a:t>
            </a:fld>
            <a:endParaRPr lang="en-IN"/>
          </a:p>
        </p:txBody>
      </p:sp>
      <p:sp>
        <p:nvSpPr>
          <p:cNvPr id="8" name="Footer Placeholder 7">
            <a:extLst>
              <a:ext uri="{FF2B5EF4-FFF2-40B4-BE49-F238E27FC236}">
                <a16:creationId xmlns:a16="http://schemas.microsoft.com/office/drawing/2014/main" id="{EE03378B-7C09-3FDC-5D0B-0905081D631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0EC6A5F-D2EE-2356-B3E1-F115DD17DBC2}"/>
              </a:ext>
            </a:extLst>
          </p:cNvPr>
          <p:cNvSpPr>
            <a:spLocks noGrp="1"/>
          </p:cNvSpPr>
          <p:nvPr>
            <p:ph type="sldNum" sz="quarter" idx="12"/>
          </p:nvPr>
        </p:nvSpPr>
        <p:spPr/>
        <p:txBody>
          <a:bodyPr/>
          <a:lstStyle/>
          <a:p>
            <a:fld id="{2053A71E-1442-47C0-AA8E-630F9D1BD316}" type="slidenum">
              <a:rPr lang="en-IN" smtClean="0"/>
              <a:t>‹#›</a:t>
            </a:fld>
            <a:endParaRPr lang="en-IN"/>
          </a:p>
        </p:txBody>
      </p:sp>
    </p:spTree>
    <p:extLst>
      <p:ext uri="{BB962C8B-B14F-4D97-AF65-F5344CB8AC3E}">
        <p14:creationId xmlns:p14="http://schemas.microsoft.com/office/powerpoint/2010/main" val="33470210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FDC1E-B0BB-D9A4-7CF1-89276A8B75E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26160C7-E937-07E6-B16E-0927B02C75C6}"/>
              </a:ext>
            </a:extLst>
          </p:cNvPr>
          <p:cNvSpPr>
            <a:spLocks noGrp="1"/>
          </p:cNvSpPr>
          <p:nvPr>
            <p:ph type="dt" sz="half" idx="10"/>
          </p:nvPr>
        </p:nvSpPr>
        <p:spPr/>
        <p:txBody>
          <a:bodyPr/>
          <a:lstStyle/>
          <a:p>
            <a:fld id="{5C62FCFE-4E5E-49D1-87E7-88D7153C0B6A}" type="datetimeFigureOut">
              <a:rPr lang="en-IN" smtClean="0"/>
              <a:t>20-07-2026</a:t>
            </a:fld>
            <a:endParaRPr lang="en-IN"/>
          </a:p>
        </p:txBody>
      </p:sp>
      <p:sp>
        <p:nvSpPr>
          <p:cNvPr id="4" name="Footer Placeholder 3">
            <a:extLst>
              <a:ext uri="{FF2B5EF4-FFF2-40B4-BE49-F238E27FC236}">
                <a16:creationId xmlns:a16="http://schemas.microsoft.com/office/drawing/2014/main" id="{4F5C4044-96CD-56A0-7F24-997CB91B8F9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EA03FDF-EC49-D6F0-EE2B-ECDEA4EF230E}"/>
              </a:ext>
            </a:extLst>
          </p:cNvPr>
          <p:cNvSpPr>
            <a:spLocks noGrp="1"/>
          </p:cNvSpPr>
          <p:nvPr>
            <p:ph type="sldNum" sz="quarter" idx="12"/>
          </p:nvPr>
        </p:nvSpPr>
        <p:spPr/>
        <p:txBody>
          <a:bodyPr/>
          <a:lstStyle/>
          <a:p>
            <a:fld id="{2053A71E-1442-47C0-AA8E-630F9D1BD316}" type="slidenum">
              <a:rPr lang="en-IN" smtClean="0"/>
              <a:t>‹#›</a:t>
            </a:fld>
            <a:endParaRPr lang="en-IN"/>
          </a:p>
        </p:txBody>
      </p:sp>
    </p:spTree>
    <p:extLst>
      <p:ext uri="{BB962C8B-B14F-4D97-AF65-F5344CB8AC3E}">
        <p14:creationId xmlns:p14="http://schemas.microsoft.com/office/powerpoint/2010/main" val="1054261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1F184F-ACF9-AE80-31B2-AF01073A4D86}"/>
              </a:ext>
            </a:extLst>
          </p:cNvPr>
          <p:cNvSpPr>
            <a:spLocks noGrp="1"/>
          </p:cNvSpPr>
          <p:nvPr>
            <p:ph type="dt" sz="half" idx="10"/>
          </p:nvPr>
        </p:nvSpPr>
        <p:spPr/>
        <p:txBody>
          <a:bodyPr/>
          <a:lstStyle/>
          <a:p>
            <a:fld id="{5C62FCFE-4E5E-49D1-87E7-88D7153C0B6A}" type="datetimeFigureOut">
              <a:rPr lang="en-IN" smtClean="0"/>
              <a:t>20-07-2026</a:t>
            </a:fld>
            <a:endParaRPr lang="en-IN"/>
          </a:p>
        </p:txBody>
      </p:sp>
      <p:sp>
        <p:nvSpPr>
          <p:cNvPr id="3" name="Footer Placeholder 2">
            <a:extLst>
              <a:ext uri="{FF2B5EF4-FFF2-40B4-BE49-F238E27FC236}">
                <a16:creationId xmlns:a16="http://schemas.microsoft.com/office/drawing/2014/main" id="{2C3B3F9D-F701-2E1D-7A77-5F371CF569C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2F6D5EA-4207-714E-FDAF-1FDB0BA01108}"/>
              </a:ext>
            </a:extLst>
          </p:cNvPr>
          <p:cNvSpPr>
            <a:spLocks noGrp="1"/>
          </p:cNvSpPr>
          <p:nvPr>
            <p:ph type="sldNum" sz="quarter" idx="12"/>
          </p:nvPr>
        </p:nvSpPr>
        <p:spPr/>
        <p:txBody>
          <a:bodyPr/>
          <a:lstStyle/>
          <a:p>
            <a:fld id="{2053A71E-1442-47C0-AA8E-630F9D1BD316}" type="slidenum">
              <a:rPr lang="en-IN" smtClean="0"/>
              <a:t>‹#›</a:t>
            </a:fld>
            <a:endParaRPr lang="en-IN"/>
          </a:p>
        </p:txBody>
      </p:sp>
    </p:spTree>
    <p:extLst>
      <p:ext uri="{BB962C8B-B14F-4D97-AF65-F5344CB8AC3E}">
        <p14:creationId xmlns:p14="http://schemas.microsoft.com/office/powerpoint/2010/main" val="35393019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82CA8-857B-AFB6-12F2-7DC1F286D1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392D615-A6CB-30B7-4289-E3AE466ECA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7DA384B-A7D3-A6AA-70F0-A7BC971077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6BC317-D378-7AF7-B8CA-BC5EA78DAC03}"/>
              </a:ext>
            </a:extLst>
          </p:cNvPr>
          <p:cNvSpPr>
            <a:spLocks noGrp="1"/>
          </p:cNvSpPr>
          <p:nvPr>
            <p:ph type="dt" sz="half" idx="10"/>
          </p:nvPr>
        </p:nvSpPr>
        <p:spPr/>
        <p:txBody>
          <a:bodyPr/>
          <a:lstStyle/>
          <a:p>
            <a:fld id="{5C62FCFE-4E5E-49D1-87E7-88D7153C0B6A}" type="datetimeFigureOut">
              <a:rPr lang="en-IN" smtClean="0"/>
              <a:t>20-07-2026</a:t>
            </a:fld>
            <a:endParaRPr lang="en-IN"/>
          </a:p>
        </p:txBody>
      </p:sp>
      <p:sp>
        <p:nvSpPr>
          <p:cNvPr id="6" name="Footer Placeholder 5">
            <a:extLst>
              <a:ext uri="{FF2B5EF4-FFF2-40B4-BE49-F238E27FC236}">
                <a16:creationId xmlns:a16="http://schemas.microsoft.com/office/drawing/2014/main" id="{FEC3CC3E-B8CB-6390-A74A-03A3E3F69AB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0A7117E-965F-A3BA-F2CF-86A549DA764D}"/>
              </a:ext>
            </a:extLst>
          </p:cNvPr>
          <p:cNvSpPr>
            <a:spLocks noGrp="1"/>
          </p:cNvSpPr>
          <p:nvPr>
            <p:ph type="sldNum" sz="quarter" idx="12"/>
          </p:nvPr>
        </p:nvSpPr>
        <p:spPr/>
        <p:txBody>
          <a:bodyPr/>
          <a:lstStyle/>
          <a:p>
            <a:fld id="{2053A71E-1442-47C0-AA8E-630F9D1BD316}" type="slidenum">
              <a:rPr lang="en-IN" smtClean="0"/>
              <a:t>‹#›</a:t>
            </a:fld>
            <a:endParaRPr lang="en-IN"/>
          </a:p>
        </p:txBody>
      </p:sp>
    </p:spTree>
    <p:extLst>
      <p:ext uri="{BB962C8B-B14F-4D97-AF65-F5344CB8AC3E}">
        <p14:creationId xmlns:p14="http://schemas.microsoft.com/office/powerpoint/2010/main" val="574933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FC5D4-5D97-33B6-23B7-9CA6297AD4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0297373-E0B6-B105-0CDE-E93366628F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BD0AD03-4F4C-ACD6-4B06-DAD83A1346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845AF4-9D38-8FB4-A480-174E8B6A93D8}"/>
              </a:ext>
            </a:extLst>
          </p:cNvPr>
          <p:cNvSpPr>
            <a:spLocks noGrp="1"/>
          </p:cNvSpPr>
          <p:nvPr>
            <p:ph type="dt" sz="half" idx="10"/>
          </p:nvPr>
        </p:nvSpPr>
        <p:spPr/>
        <p:txBody>
          <a:bodyPr/>
          <a:lstStyle/>
          <a:p>
            <a:fld id="{5C62FCFE-4E5E-49D1-87E7-88D7153C0B6A}" type="datetimeFigureOut">
              <a:rPr lang="en-IN" smtClean="0"/>
              <a:t>20-07-2026</a:t>
            </a:fld>
            <a:endParaRPr lang="en-IN"/>
          </a:p>
        </p:txBody>
      </p:sp>
      <p:sp>
        <p:nvSpPr>
          <p:cNvPr id="6" name="Footer Placeholder 5">
            <a:extLst>
              <a:ext uri="{FF2B5EF4-FFF2-40B4-BE49-F238E27FC236}">
                <a16:creationId xmlns:a16="http://schemas.microsoft.com/office/drawing/2014/main" id="{D423177A-0D1E-6F81-3CF6-FC66CCD1DEE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F951C16-0E04-95E8-E905-928D14A1F535}"/>
              </a:ext>
            </a:extLst>
          </p:cNvPr>
          <p:cNvSpPr>
            <a:spLocks noGrp="1"/>
          </p:cNvSpPr>
          <p:nvPr>
            <p:ph type="sldNum" sz="quarter" idx="12"/>
          </p:nvPr>
        </p:nvSpPr>
        <p:spPr/>
        <p:txBody>
          <a:bodyPr/>
          <a:lstStyle/>
          <a:p>
            <a:fld id="{2053A71E-1442-47C0-AA8E-630F9D1BD316}" type="slidenum">
              <a:rPr lang="en-IN" smtClean="0"/>
              <a:t>‹#›</a:t>
            </a:fld>
            <a:endParaRPr lang="en-IN"/>
          </a:p>
        </p:txBody>
      </p:sp>
    </p:spTree>
    <p:extLst>
      <p:ext uri="{BB962C8B-B14F-4D97-AF65-F5344CB8AC3E}">
        <p14:creationId xmlns:p14="http://schemas.microsoft.com/office/powerpoint/2010/main" val="30501858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41F78-483A-2ECC-DC0D-606414C7CAA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EB3FDB8-A840-B237-639F-467093F6CA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5BA5C0-EC9E-50B4-64FE-A19C4CD6DEFE}"/>
              </a:ext>
            </a:extLst>
          </p:cNvPr>
          <p:cNvSpPr>
            <a:spLocks noGrp="1"/>
          </p:cNvSpPr>
          <p:nvPr>
            <p:ph type="dt" sz="half" idx="10"/>
          </p:nvPr>
        </p:nvSpPr>
        <p:spPr/>
        <p:txBody>
          <a:bodyPr/>
          <a:lstStyle/>
          <a:p>
            <a:fld id="{5C62FCFE-4E5E-49D1-87E7-88D7153C0B6A}" type="datetimeFigureOut">
              <a:rPr lang="en-IN" smtClean="0"/>
              <a:t>20-07-2026</a:t>
            </a:fld>
            <a:endParaRPr lang="en-IN"/>
          </a:p>
        </p:txBody>
      </p:sp>
      <p:sp>
        <p:nvSpPr>
          <p:cNvPr id="5" name="Footer Placeholder 4">
            <a:extLst>
              <a:ext uri="{FF2B5EF4-FFF2-40B4-BE49-F238E27FC236}">
                <a16:creationId xmlns:a16="http://schemas.microsoft.com/office/drawing/2014/main" id="{8CC12B54-625D-CDD5-395F-07C125A584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CF3A42-D49E-0DC3-B450-B715B3F5ACD1}"/>
              </a:ext>
            </a:extLst>
          </p:cNvPr>
          <p:cNvSpPr>
            <a:spLocks noGrp="1"/>
          </p:cNvSpPr>
          <p:nvPr>
            <p:ph type="sldNum" sz="quarter" idx="12"/>
          </p:nvPr>
        </p:nvSpPr>
        <p:spPr/>
        <p:txBody>
          <a:bodyPr/>
          <a:lstStyle/>
          <a:p>
            <a:fld id="{2053A71E-1442-47C0-AA8E-630F9D1BD316}" type="slidenum">
              <a:rPr lang="en-IN" smtClean="0"/>
              <a:t>‹#›</a:t>
            </a:fld>
            <a:endParaRPr lang="en-IN"/>
          </a:p>
        </p:txBody>
      </p:sp>
    </p:spTree>
    <p:extLst>
      <p:ext uri="{BB962C8B-B14F-4D97-AF65-F5344CB8AC3E}">
        <p14:creationId xmlns:p14="http://schemas.microsoft.com/office/powerpoint/2010/main" val="31186142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CDC17F-318C-916E-57AC-508A71E1C57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52EC8FF-6B1D-B68D-CB49-848155CB7B6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326ECC-A749-B0A0-37E5-84EC80CA9F4C}"/>
              </a:ext>
            </a:extLst>
          </p:cNvPr>
          <p:cNvSpPr>
            <a:spLocks noGrp="1"/>
          </p:cNvSpPr>
          <p:nvPr>
            <p:ph type="dt" sz="half" idx="10"/>
          </p:nvPr>
        </p:nvSpPr>
        <p:spPr/>
        <p:txBody>
          <a:bodyPr/>
          <a:lstStyle/>
          <a:p>
            <a:fld id="{5C62FCFE-4E5E-49D1-87E7-88D7153C0B6A}" type="datetimeFigureOut">
              <a:rPr lang="en-IN" smtClean="0"/>
              <a:t>20-07-2026</a:t>
            </a:fld>
            <a:endParaRPr lang="en-IN"/>
          </a:p>
        </p:txBody>
      </p:sp>
      <p:sp>
        <p:nvSpPr>
          <p:cNvPr id="5" name="Footer Placeholder 4">
            <a:extLst>
              <a:ext uri="{FF2B5EF4-FFF2-40B4-BE49-F238E27FC236}">
                <a16:creationId xmlns:a16="http://schemas.microsoft.com/office/drawing/2014/main" id="{785B5885-1B0F-3F94-D384-30A0D4FC3B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FA4F2D-11B9-D247-032B-D39A700B51AD}"/>
              </a:ext>
            </a:extLst>
          </p:cNvPr>
          <p:cNvSpPr>
            <a:spLocks noGrp="1"/>
          </p:cNvSpPr>
          <p:nvPr>
            <p:ph type="sldNum" sz="quarter" idx="12"/>
          </p:nvPr>
        </p:nvSpPr>
        <p:spPr/>
        <p:txBody>
          <a:bodyPr/>
          <a:lstStyle/>
          <a:p>
            <a:fld id="{2053A71E-1442-47C0-AA8E-630F9D1BD316}" type="slidenum">
              <a:rPr lang="en-IN" smtClean="0"/>
              <a:t>‹#›</a:t>
            </a:fld>
            <a:endParaRPr lang="en-IN"/>
          </a:p>
        </p:txBody>
      </p:sp>
    </p:spTree>
    <p:extLst>
      <p:ext uri="{BB962C8B-B14F-4D97-AF65-F5344CB8AC3E}">
        <p14:creationId xmlns:p14="http://schemas.microsoft.com/office/powerpoint/2010/main" val="4359396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80D0114-0481-9905-7A8B-E13688F9EC9C}"/>
              </a:ext>
            </a:extLst>
          </p:cNvPr>
          <p:cNvPicPr>
            <a:picLocks noChangeAspect="1"/>
          </p:cNvPicPr>
          <p:nvPr userDrawn="1"/>
        </p:nvPicPr>
        <p:blipFill>
          <a:blip r:embed="rId2"/>
          <a:stretch>
            <a:fillRect/>
          </a:stretch>
        </p:blipFill>
        <p:spPr>
          <a:xfrm>
            <a:off x="1" y="0"/>
            <a:ext cx="12192000" cy="6857999"/>
          </a:xfrm>
          <a:prstGeom prst="rect">
            <a:avLst/>
          </a:prstGeom>
        </p:spPr>
      </p:pic>
    </p:spTree>
    <p:extLst>
      <p:ext uri="{BB962C8B-B14F-4D97-AF65-F5344CB8AC3E}">
        <p14:creationId xmlns:p14="http://schemas.microsoft.com/office/powerpoint/2010/main" val="40333531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91511D-A9CF-03A1-5294-08BF0F1D67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5A1C990-56C2-4925-A61B-3083EBB456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A33F06-3EAC-88B2-A7B7-2D0B28DCBC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C62FCFE-4E5E-49D1-87E7-88D7153C0B6A}" type="datetimeFigureOut">
              <a:rPr lang="en-IN" smtClean="0"/>
              <a:t>20-07-2026</a:t>
            </a:fld>
            <a:endParaRPr lang="en-IN"/>
          </a:p>
        </p:txBody>
      </p:sp>
      <p:sp>
        <p:nvSpPr>
          <p:cNvPr id="5" name="Footer Placeholder 4">
            <a:extLst>
              <a:ext uri="{FF2B5EF4-FFF2-40B4-BE49-F238E27FC236}">
                <a16:creationId xmlns:a16="http://schemas.microsoft.com/office/drawing/2014/main" id="{D5723EA5-E337-3AF8-456D-806F4ED9E9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F4FBFA6-5CD1-7F40-E273-706BFF642D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053A71E-1442-47C0-AA8E-630F9D1BD316}" type="slidenum">
              <a:rPr lang="en-IN" smtClean="0"/>
              <a:t>‹#›</a:t>
            </a:fld>
            <a:endParaRPr lang="en-IN"/>
          </a:p>
        </p:txBody>
      </p:sp>
    </p:spTree>
    <p:extLst>
      <p:ext uri="{BB962C8B-B14F-4D97-AF65-F5344CB8AC3E}">
        <p14:creationId xmlns:p14="http://schemas.microsoft.com/office/powerpoint/2010/main" val="42092048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A04AE-0107-3692-8CB0-C7746D978D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F40B24-5739-3343-A9E5-C26335D68657}"/>
              </a:ext>
            </a:extLst>
          </p:cNvPr>
          <p:cNvSpPr txBox="1">
            <a:spLocks/>
          </p:cNvSpPr>
          <p:nvPr/>
        </p:nvSpPr>
        <p:spPr>
          <a:xfrm>
            <a:off x="473642" y="257967"/>
            <a:ext cx="11120259" cy="594360"/>
          </a:xfrm>
          <a:prstGeom prst="rect">
            <a:avLst/>
          </a:prstGeom>
        </p:spPr>
        <p:txBody>
          <a:bodyPr vert="horz" lIns="0" tIns="45720" rIns="0" bIns="0" rtlCol="0" anchor="b" anchorCtr="0">
            <a:noAutofit/>
          </a:bodyPr>
          <a:lstStyle>
            <a:lvl1pPr algn="l" defTabSz="914400" rtl="0" eaLnBrk="1" latinLnBrk="0" hangingPunct="1">
              <a:lnSpc>
                <a:spcPct val="80000"/>
              </a:lnSpc>
              <a:spcBef>
                <a:spcPct val="0"/>
              </a:spcBef>
              <a:buNone/>
              <a:defRPr lang="en-US" sz="3600" b="0" i="0" kern="1200" cap="none" spc="-75" baseline="0" dirty="0">
                <a:solidFill>
                  <a:schemeClr val="tx1"/>
                </a:solidFill>
                <a:latin typeface="+mj-lt"/>
                <a:ea typeface="Bebas Neue" charset="0"/>
                <a:cs typeface="Chronicle Display Black"/>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lang="it-IT" sz="3200" dirty="0">
                <a:solidFill>
                  <a:srgbClr val="000000"/>
                </a:solidFill>
                <a:latin typeface="Calibri" panose="020F0502020204030204" pitchFamily="34" charset="0"/>
                <a:cs typeface="Calibri" panose="020F0502020204030204" pitchFamily="34" charset="0"/>
              </a:rPr>
              <a:t>Comparison of different approaches for sustainable AI deployments</a:t>
            </a:r>
          </a:p>
        </p:txBody>
      </p:sp>
      <p:sp>
        <p:nvSpPr>
          <p:cNvPr id="4" name="Shape 2">
            <a:extLst>
              <a:ext uri="{FF2B5EF4-FFF2-40B4-BE49-F238E27FC236}">
                <a16:creationId xmlns:a16="http://schemas.microsoft.com/office/drawing/2014/main" id="{DE497F7A-CBF5-BC4D-C90D-C82897696286}"/>
              </a:ext>
            </a:extLst>
          </p:cNvPr>
          <p:cNvSpPr/>
          <p:nvPr/>
        </p:nvSpPr>
        <p:spPr>
          <a:xfrm>
            <a:off x="457200" y="1554480"/>
            <a:ext cx="5532120" cy="841248"/>
          </a:xfrm>
          <a:prstGeom prst="rect">
            <a:avLst/>
          </a:prstGeom>
          <a:solidFill>
            <a:srgbClr val="FFFFFF"/>
          </a:solidFill>
          <a:ln w="13970">
            <a:solidFill>
              <a:schemeClr val="bg1">
                <a:lumMod val="50000"/>
              </a:schemeClr>
            </a:solidFill>
            <a:prstDash val="solid"/>
          </a:ln>
        </p:spPr>
        <p:txBody>
          <a:bodyPr/>
          <a:lstStyle/>
          <a:p>
            <a:endParaRPr lang="en-IN" sz="2000"/>
          </a:p>
        </p:txBody>
      </p:sp>
      <p:sp>
        <p:nvSpPr>
          <p:cNvPr id="7" name="Text 5">
            <a:extLst>
              <a:ext uri="{FF2B5EF4-FFF2-40B4-BE49-F238E27FC236}">
                <a16:creationId xmlns:a16="http://schemas.microsoft.com/office/drawing/2014/main" id="{A62FA3C7-4ECC-AA54-1B22-66EC5F9770C6}"/>
              </a:ext>
            </a:extLst>
          </p:cNvPr>
          <p:cNvSpPr/>
          <p:nvPr/>
        </p:nvSpPr>
        <p:spPr>
          <a:xfrm>
            <a:off x="892830" y="1554480"/>
            <a:ext cx="4709160" cy="841248"/>
          </a:xfrm>
          <a:prstGeom prst="rect">
            <a:avLst/>
          </a:prstGeom>
          <a:noFill/>
          <a:ln/>
        </p:spPr>
        <p:txBody>
          <a:bodyPr wrap="square" lIns="0" tIns="0" rIns="0" bIns="0" rtlCol="0" anchor="ctr"/>
          <a:lstStyle/>
          <a:p>
            <a:pPr marL="0" indent="0">
              <a:buNone/>
            </a:pPr>
            <a:r>
              <a:rPr lang="en-US" sz="1200" dirty="0">
                <a:solidFill>
                  <a:srgbClr val="1A1A2E"/>
                </a:solidFill>
                <a:ea typeface="Calibri" pitchFamily="34" charset="-122"/>
                <a:cs typeface="Calibri" pitchFamily="34" charset="-120"/>
              </a:rPr>
              <a:t>Enterprise AI Platform (LLM Orchestration Layer, API, GPU as a Service)</a:t>
            </a:r>
            <a:endParaRPr lang="en-US" sz="1200" dirty="0"/>
          </a:p>
        </p:txBody>
      </p:sp>
      <p:sp>
        <p:nvSpPr>
          <p:cNvPr id="8" name="Shape 6">
            <a:extLst>
              <a:ext uri="{FF2B5EF4-FFF2-40B4-BE49-F238E27FC236}">
                <a16:creationId xmlns:a16="http://schemas.microsoft.com/office/drawing/2014/main" id="{BB717651-BCA7-63E7-AC6B-60A740F36645}"/>
              </a:ext>
            </a:extLst>
          </p:cNvPr>
          <p:cNvSpPr/>
          <p:nvPr/>
        </p:nvSpPr>
        <p:spPr>
          <a:xfrm>
            <a:off x="457200" y="2514600"/>
            <a:ext cx="5532120" cy="841248"/>
          </a:xfrm>
          <a:prstGeom prst="rect">
            <a:avLst/>
          </a:prstGeom>
          <a:solidFill>
            <a:srgbClr val="FFFFFF"/>
          </a:solidFill>
          <a:ln w="13970">
            <a:solidFill>
              <a:schemeClr val="bg1">
                <a:lumMod val="50000"/>
              </a:schemeClr>
            </a:solidFill>
            <a:prstDash val="solid"/>
          </a:ln>
        </p:spPr>
        <p:txBody>
          <a:bodyPr/>
          <a:lstStyle/>
          <a:p>
            <a:endParaRPr lang="en-IN" sz="2000"/>
          </a:p>
        </p:txBody>
      </p:sp>
      <p:sp>
        <p:nvSpPr>
          <p:cNvPr id="11" name="Text 9">
            <a:extLst>
              <a:ext uri="{FF2B5EF4-FFF2-40B4-BE49-F238E27FC236}">
                <a16:creationId xmlns:a16="http://schemas.microsoft.com/office/drawing/2014/main" id="{DCB61EDC-278F-A2B6-F269-663FFC4FC9E9}"/>
              </a:ext>
            </a:extLst>
          </p:cNvPr>
          <p:cNvSpPr/>
          <p:nvPr/>
        </p:nvSpPr>
        <p:spPr>
          <a:xfrm>
            <a:off x="892830" y="2514600"/>
            <a:ext cx="4709160" cy="841248"/>
          </a:xfrm>
          <a:prstGeom prst="rect">
            <a:avLst/>
          </a:prstGeom>
          <a:noFill/>
          <a:ln/>
        </p:spPr>
        <p:txBody>
          <a:bodyPr wrap="square" lIns="0" tIns="0" rIns="0" bIns="0" rtlCol="0" anchor="ctr"/>
          <a:lstStyle/>
          <a:p>
            <a:r>
              <a:rPr lang="en-US" sz="1200" dirty="0">
                <a:solidFill>
                  <a:srgbClr val="1A1A2E"/>
                </a:solidFill>
                <a:ea typeface="Calibri" pitchFamily="34" charset="-122"/>
                <a:cs typeface="Calibri" pitchFamily="34" charset="-120"/>
              </a:rPr>
              <a:t>Forest AI Stack</a:t>
            </a:r>
            <a:endParaRPr lang="en-US" sz="1200" dirty="0"/>
          </a:p>
        </p:txBody>
      </p:sp>
      <p:sp>
        <p:nvSpPr>
          <p:cNvPr id="12" name="Shape 10">
            <a:extLst>
              <a:ext uri="{FF2B5EF4-FFF2-40B4-BE49-F238E27FC236}">
                <a16:creationId xmlns:a16="http://schemas.microsoft.com/office/drawing/2014/main" id="{80C70B77-45BE-1011-F2D0-2C68B587281E}"/>
              </a:ext>
            </a:extLst>
          </p:cNvPr>
          <p:cNvSpPr/>
          <p:nvPr/>
        </p:nvSpPr>
        <p:spPr>
          <a:xfrm>
            <a:off x="457200" y="3474720"/>
            <a:ext cx="5532120" cy="841248"/>
          </a:xfrm>
          <a:prstGeom prst="rect">
            <a:avLst/>
          </a:prstGeom>
          <a:solidFill>
            <a:srgbClr val="FFFFFF"/>
          </a:solidFill>
          <a:ln w="13970">
            <a:solidFill>
              <a:schemeClr val="bg1">
                <a:lumMod val="50000"/>
              </a:schemeClr>
            </a:solidFill>
            <a:prstDash val="solid"/>
          </a:ln>
        </p:spPr>
        <p:txBody>
          <a:bodyPr/>
          <a:lstStyle/>
          <a:p>
            <a:endParaRPr lang="en-IN" sz="2000" dirty="0"/>
          </a:p>
        </p:txBody>
      </p:sp>
      <p:sp>
        <p:nvSpPr>
          <p:cNvPr id="15" name="Text 13">
            <a:extLst>
              <a:ext uri="{FF2B5EF4-FFF2-40B4-BE49-F238E27FC236}">
                <a16:creationId xmlns:a16="http://schemas.microsoft.com/office/drawing/2014/main" id="{2AB1A42A-4FEC-E1D8-1DB7-5D9DCDA4620C}"/>
              </a:ext>
            </a:extLst>
          </p:cNvPr>
          <p:cNvSpPr/>
          <p:nvPr/>
        </p:nvSpPr>
        <p:spPr>
          <a:xfrm>
            <a:off x="892830" y="3474720"/>
            <a:ext cx="4709160" cy="841248"/>
          </a:xfrm>
          <a:prstGeom prst="rect">
            <a:avLst/>
          </a:prstGeom>
          <a:noFill/>
          <a:ln/>
        </p:spPr>
        <p:txBody>
          <a:bodyPr wrap="square" lIns="0" tIns="0" rIns="0" bIns="0" rtlCol="0" anchor="ctr"/>
          <a:lstStyle/>
          <a:p>
            <a:pPr marL="0" indent="0">
              <a:buNone/>
            </a:pPr>
            <a:r>
              <a:rPr lang="en-US" sz="1200" dirty="0">
                <a:solidFill>
                  <a:srgbClr val="1A1A2E"/>
                </a:solidFill>
                <a:ea typeface="Calibri" pitchFamily="34" charset="-122"/>
                <a:cs typeface="Calibri" pitchFamily="34" charset="-120"/>
              </a:rPr>
              <a:t>State Data Exchange Platform (Telangana TGDeX-style)</a:t>
            </a:r>
            <a:endParaRPr lang="en-US" sz="1200" dirty="0"/>
          </a:p>
        </p:txBody>
      </p:sp>
      <p:sp>
        <p:nvSpPr>
          <p:cNvPr id="16" name="Shape 14">
            <a:extLst>
              <a:ext uri="{FF2B5EF4-FFF2-40B4-BE49-F238E27FC236}">
                <a16:creationId xmlns:a16="http://schemas.microsoft.com/office/drawing/2014/main" id="{70BC2958-BA8D-ECDC-D765-A43BAD75F149}"/>
              </a:ext>
            </a:extLst>
          </p:cNvPr>
          <p:cNvSpPr/>
          <p:nvPr/>
        </p:nvSpPr>
        <p:spPr>
          <a:xfrm>
            <a:off x="457200" y="4434840"/>
            <a:ext cx="5532120" cy="841248"/>
          </a:xfrm>
          <a:prstGeom prst="rect">
            <a:avLst/>
          </a:prstGeom>
          <a:solidFill>
            <a:srgbClr val="FFFFFF"/>
          </a:solidFill>
          <a:ln w="13970">
            <a:solidFill>
              <a:schemeClr val="bg1">
                <a:lumMod val="50000"/>
              </a:schemeClr>
            </a:solidFill>
            <a:prstDash val="solid"/>
          </a:ln>
        </p:spPr>
        <p:txBody>
          <a:bodyPr/>
          <a:lstStyle/>
          <a:p>
            <a:endParaRPr lang="en-IN" sz="2000"/>
          </a:p>
        </p:txBody>
      </p:sp>
      <p:sp>
        <p:nvSpPr>
          <p:cNvPr id="19" name="Text 17">
            <a:extLst>
              <a:ext uri="{FF2B5EF4-FFF2-40B4-BE49-F238E27FC236}">
                <a16:creationId xmlns:a16="http://schemas.microsoft.com/office/drawing/2014/main" id="{726CEC6A-C37A-3EAE-003D-F02C920C1F1D}"/>
              </a:ext>
            </a:extLst>
          </p:cNvPr>
          <p:cNvSpPr/>
          <p:nvPr/>
        </p:nvSpPr>
        <p:spPr>
          <a:xfrm>
            <a:off x="892830" y="4434840"/>
            <a:ext cx="4709160" cy="841248"/>
          </a:xfrm>
          <a:prstGeom prst="rect">
            <a:avLst/>
          </a:prstGeom>
          <a:noFill/>
          <a:ln/>
        </p:spPr>
        <p:txBody>
          <a:bodyPr wrap="square" lIns="0" tIns="0" rIns="0" bIns="0" rtlCol="0" anchor="ctr"/>
          <a:lstStyle/>
          <a:p>
            <a:pPr marL="0" indent="0">
              <a:buNone/>
            </a:pPr>
            <a:r>
              <a:rPr lang="en-US" sz="1200" dirty="0">
                <a:solidFill>
                  <a:srgbClr val="1A1A2E"/>
                </a:solidFill>
                <a:ea typeface="Calibri" pitchFamily="34" charset="-122"/>
                <a:cs typeface="Calibri" pitchFamily="34" charset="-120"/>
              </a:rPr>
              <a:t>Government Officer Productivity Platform (Enterprise Copilot)</a:t>
            </a:r>
            <a:endParaRPr lang="en-US" sz="1200" dirty="0"/>
          </a:p>
        </p:txBody>
      </p:sp>
      <p:sp>
        <p:nvSpPr>
          <p:cNvPr id="20" name="Shape 18">
            <a:extLst>
              <a:ext uri="{FF2B5EF4-FFF2-40B4-BE49-F238E27FC236}">
                <a16:creationId xmlns:a16="http://schemas.microsoft.com/office/drawing/2014/main" id="{885D3351-45EB-6B97-048D-7BA7D7A8928C}"/>
              </a:ext>
            </a:extLst>
          </p:cNvPr>
          <p:cNvSpPr/>
          <p:nvPr/>
        </p:nvSpPr>
        <p:spPr>
          <a:xfrm>
            <a:off x="457200" y="5394960"/>
            <a:ext cx="5532120" cy="841248"/>
          </a:xfrm>
          <a:prstGeom prst="rect">
            <a:avLst/>
          </a:prstGeom>
          <a:solidFill>
            <a:srgbClr val="FFFFFF"/>
          </a:solidFill>
          <a:ln w="13970">
            <a:solidFill>
              <a:schemeClr val="bg1">
                <a:lumMod val="50000"/>
              </a:schemeClr>
            </a:solidFill>
            <a:prstDash val="solid"/>
          </a:ln>
        </p:spPr>
        <p:txBody>
          <a:bodyPr/>
          <a:lstStyle/>
          <a:p>
            <a:endParaRPr lang="en-IN" sz="2000"/>
          </a:p>
        </p:txBody>
      </p:sp>
      <p:sp>
        <p:nvSpPr>
          <p:cNvPr id="23" name="Text 21">
            <a:extLst>
              <a:ext uri="{FF2B5EF4-FFF2-40B4-BE49-F238E27FC236}">
                <a16:creationId xmlns:a16="http://schemas.microsoft.com/office/drawing/2014/main" id="{1EB4E95A-1F80-2FC8-A55A-4118A506D78C}"/>
              </a:ext>
            </a:extLst>
          </p:cNvPr>
          <p:cNvSpPr/>
          <p:nvPr/>
        </p:nvSpPr>
        <p:spPr>
          <a:xfrm>
            <a:off x="892830" y="5394960"/>
            <a:ext cx="4709160" cy="841248"/>
          </a:xfrm>
          <a:prstGeom prst="rect">
            <a:avLst/>
          </a:prstGeom>
          <a:noFill/>
          <a:ln/>
        </p:spPr>
        <p:txBody>
          <a:bodyPr wrap="square" lIns="0" tIns="0" rIns="0" bIns="0" rtlCol="0" anchor="ctr"/>
          <a:lstStyle/>
          <a:p>
            <a:pPr marL="0" indent="0">
              <a:buNone/>
            </a:pPr>
            <a:r>
              <a:rPr lang="en-US" sz="1200" dirty="0">
                <a:solidFill>
                  <a:srgbClr val="1A1A2E"/>
                </a:solidFill>
                <a:ea typeface="Calibri" pitchFamily="34" charset="-122"/>
                <a:cs typeface="Calibri" pitchFamily="34" charset="-120"/>
              </a:rPr>
              <a:t>Use Cases specific Agentic AI Platform (multi-agent audit/workflow AI)</a:t>
            </a:r>
            <a:endParaRPr lang="en-US" sz="1200" dirty="0"/>
          </a:p>
        </p:txBody>
      </p:sp>
      <p:sp>
        <p:nvSpPr>
          <p:cNvPr id="24" name="Shape 22">
            <a:extLst>
              <a:ext uri="{FF2B5EF4-FFF2-40B4-BE49-F238E27FC236}">
                <a16:creationId xmlns:a16="http://schemas.microsoft.com/office/drawing/2014/main" id="{0CD04B71-D7A8-1529-E75A-6BAF17894F66}"/>
              </a:ext>
            </a:extLst>
          </p:cNvPr>
          <p:cNvSpPr/>
          <p:nvPr/>
        </p:nvSpPr>
        <p:spPr>
          <a:xfrm>
            <a:off x="6217920" y="1554480"/>
            <a:ext cx="5532120" cy="841248"/>
          </a:xfrm>
          <a:prstGeom prst="rect">
            <a:avLst/>
          </a:prstGeom>
          <a:solidFill>
            <a:srgbClr val="FFFFFF"/>
          </a:solidFill>
          <a:ln w="13970">
            <a:solidFill>
              <a:schemeClr val="bg1">
                <a:lumMod val="50000"/>
              </a:schemeClr>
            </a:solidFill>
            <a:prstDash val="solid"/>
          </a:ln>
        </p:spPr>
        <p:txBody>
          <a:bodyPr/>
          <a:lstStyle/>
          <a:p>
            <a:endParaRPr lang="en-IN" sz="2000"/>
          </a:p>
        </p:txBody>
      </p:sp>
      <p:sp>
        <p:nvSpPr>
          <p:cNvPr id="27" name="Text 25">
            <a:extLst>
              <a:ext uri="{FF2B5EF4-FFF2-40B4-BE49-F238E27FC236}">
                <a16:creationId xmlns:a16="http://schemas.microsoft.com/office/drawing/2014/main" id="{E0D7DA10-A69D-8CCC-D7D0-8FBE7DF82A77}"/>
              </a:ext>
            </a:extLst>
          </p:cNvPr>
          <p:cNvSpPr/>
          <p:nvPr/>
        </p:nvSpPr>
        <p:spPr>
          <a:xfrm>
            <a:off x="6653550" y="1554480"/>
            <a:ext cx="4709160" cy="841248"/>
          </a:xfrm>
          <a:prstGeom prst="rect">
            <a:avLst/>
          </a:prstGeom>
          <a:noFill/>
          <a:ln/>
        </p:spPr>
        <p:txBody>
          <a:bodyPr wrap="square" lIns="0" tIns="0" rIns="0" bIns="0" rtlCol="0" anchor="ctr"/>
          <a:lstStyle/>
          <a:p>
            <a:pPr marL="0" indent="0">
              <a:buNone/>
            </a:pPr>
            <a:r>
              <a:rPr lang="en-US" sz="1200" dirty="0">
                <a:solidFill>
                  <a:srgbClr val="1A1A2E"/>
                </a:solidFill>
                <a:ea typeface="Calibri" pitchFamily="34" charset="-122"/>
                <a:cs typeface="Calibri" pitchFamily="34" charset="-120"/>
              </a:rPr>
              <a:t>Agentic AI Marketplace (CHiPS does empanelment only for Agentic AI transformation)</a:t>
            </a:r>
            <a:endParaRPr lang="en-US" sz="1200" dirty="0"/>
          </a:p>
        </p:txBody>
      </p:sp>
      <p:sp>
        <p:nvSpPr>
          <p:cNvPr id="28" name="Shape 26">
            <a:extLst>
              <a:ext uri="{FF2B5EF4-FFF2-40B4-BE49-F238E27FC236}">
                <a16:creationId xmlns:a16="http://schemas.microsoft.com/office/drawing/2014/main" id="{F4EC57DF-320E-8015-F489-FBDFAF9A667E}"/>
              </a:ext>
            </a:extLst>
          </p:cNvPr>
          <p:cNvSpPr/>
          <p:nvPr/>
        </p:nvSpPr>
        <p:spPr>
          <a:xfrm>
            <a:off x="6217920" y="2514600"/>
            <a:ext cx="5532120" cy="841248"/>
          </a:xfrm>
          <a:prstGeom prst="rect">
            <a:avLst/>
          </a:prstGeom>
          <a:solidFill>
            <a:srgbClr val="FFFFFF"/>
          </a:solidFill>
          <a:ln w="13970">
            <a:solidFill>
              <a:schemeClr val="bg1">
                <a:lumMod val="50000"/>
              </a:schemeClr>
            </a:solidFill>
            <a:prstDash val="solid"/>
          </a:ln>
        </p:spPr>
        <p:txBody>
          <a:bodyPr/>
          <a:lstStyle/>
          <a:p>
            <a:endParaRPr lang="en-IN" sz="2000"/>
          </a:p>
        </p:txBody>
      </p:sp>
      <p:sp>
        <p:nvSpPr>
          <p:cNvPr id="31" name="Text 29">
            <a:extLst>
              <a:ext uri="{FF2B5EF4-FFF2-40B4-BE49-F238E27FC236}">
                <a16:creationId xmlns:a16="http://schemas.microsoft.com/office/drawing/2014/main" id="{793C2215-5D7B-DD87-D772-7B79A2FF6347}"/>
              </a:ext>
            </a:extLst>
          </p:cNvPr>
          <p:cNvSpPr/>
          <p:nvPr/>
        </p:nvSpPr>
        <p:spPr>
          <a:xfrm>
            <a:off x="6653550" y="2514600"/>
            <a:ext cx="4709160" cy="841248"/>
          </a:xfrm>
          <a:prstGeom prst="rect">
            <a:avLst/>
          </a:prstGeom>
          <a:noFill/>
          <a:ln/>
        </p:spPr>
        <p:txBody>
          <a:bodyPr wrap="square" lIns="0" tIns="0" rIns="0" bIns="0" rtlCol="0" anchor="ctr"/>
          <a:lstStyle/>
          <a:p>
            <a:pPr marL="0" indent="0">
              <a:buNone/>
            </a:pPr>
            <a:r>
              <a:rPr lang="en-US" sz="1200" dirty="0">
                <a:solidFill>
                  <a:srgbClr val="1A1A2E"/>
                </a:solidFill>
                <a:ea typeface="Calibri" pitchFamily="34" charset="-122"/>
                <a:cs typeface="Calibri" pitchFamily="34" charset="-120"/>
              </a:rPr>
              <a:t>Department-Specific AI (independent builds per department)</a:t>
            </a:r>
            <a:endParaRPr lang="en-US" sz="1200" dirty="0"/>
          </a:p>
        </p:txBody>
      </p:sp>
      <p:sp>
        <p:nvSpPr>
          <p:cNvPr id="32" name="Shape 30">
            <a:extLst>
              <a:ext uri="{FF2B5EF4-FFF2-40B4-BE49-F238E27FC236}">
                <a16:creationId xmlns:a16="http://schemas.microsoft.com/office/drawing/2014/main" id="{FF7938FF-31A8-21BB-2D0F-F293277CEAA8}"/>
              </a:ext>
            </a:extLst>
          </p:cNvPr>
          <p:cNvSpPr/>
          <p:nvPr/>
        </p:nvSpPr>
        <p:spPr>
          <a:xfrm>
            <a:off x="6217920" y="3474720"/>
            <a:ext cx="5532120" cy="841248"/>
          </a:xfrm>
          <a:prstGeom prst="rect">
            <a:avLst/>
          </a:prstGeom>
          <a:solidFill>
            <a:srgbClr val="FFFFFF"/>
          </a:solidFill>
          <a:ln w="13970">
            <a:solidFill>
              <a:schemeClr val="bg1">
                <a:lumMod val="50000"/>
              </a:schemeClr>
            </a:solidFill>
            <a:prstDash val="solid"/>
          </a:ln>
        </p:spPr>
        <p:txBody>
          <a:bodyPr/>
          <a:lstStyle/>
          <a:p>
            <a:endParaRPr lang="en-IN" sz="2000"/>
          </a:p>
        </p:txBody>
      </p:sp>
      <p:sp>
        <p:nvSpPr>
          <p:cNvPr id="35" name="Text 33">
            <a:extLst>
              <a:ext uri="{FF2B5EF4-FFF2-40B4-BE49-F238E27FC236}">
                <a16:creationId xmlns:a16="http://schemas.microsoft.com/office/drawing/2014/main" id="{F61C374C-98BF-5DD2-C90A-E204334FD2D1}"/>
              </a:ext>
            </a:extLst>
          </p:cNvPr>
          <p:cNvSpPr/>
          <p:nvPr/>
        </p:nvSpPr>
        <p:spPr>
          <a:xfrm>
            <a:off x="6653550" y="3474720"/>
            <a:ext cx="4709160" cy="841248"/>
          </a:xfrm>
          <a:prstGeom prst="rect">
            <a:avLst/>
          </a:prstGeom>
          <a:noFill/>
          <a:ln/>
        </p:spPr>
        <p:txBody>
          <a:bodyPr wrap="square" lIns="0" tIns="0" rIns="0" bIns="0" rtlCol="0" anchor="ctr"/>
          <a:lstStyle/>
          <a:p>
            <a:r>
              <a:rPr lang="en-US" sz="1200" dirty="0" err="1">
                <a:solidFill>
                  <a:srgbClr val="1A1A2E"/>
                </a:solidFill>
                <a:ea typeface="Calibri" pitchFamily="34" charset="-122"/>
                <a:cs typeface="Calibri" pitchFamily="34" charset="-120"/>
              </a:rPr>
              <a:t>AIKosh</a:t>
            </a:r>
            <a:r>
              <a:rPr lang="en-US" sz="1200" dirty="0">
                <a:solidFill>
                  <a:srgbClr val="1A1A2E"/>
                </a:solidFill>
                <a:ea typeface="Calibri" pitchFamily="34" charset="-122"/>
                <a:cs typeface="Calibri" pitchFamily="34" charset="-120"/>
              </a:rPr>
              <a:t>-Style </a:t>
            </a:r>
            <a:r>
              <a:rPr lang="en-US" sz="1200">
                <a:solidFill>
                  <a:srgbClr val="1A1A2E"/>
                </a:solidFill>
                <a:ea typeface="Calibri" pitchFamily="34" charset="-122"/>
                <a:cs typeface="Calibri" pitchFamily="34" charset="-120"/>
              </a:rPr>
              <a:t>AI Experimentation State </a:t>
            </a:r>
            <a:r>
              <a:rPr lang="en-US" sz="1200" dirty="0">
                <a:solidFill>
                  <a:srgbClr val="1A1A2E"/>
                </a:solidFill>
                <a:ea typeface="Calibri" pitchFamily="34" charset="-122"/>
                <a:cs typeface="Calibri" pitchFamily="34" charset="-120"/>
              </a:rPr>
              <a:t>Platform</a:t>
            </a:r>
            <a:endParaRPr lang="en-US" sz="1200" dirty="0"/>
          </a:p>
          <a:p>
            <a:pPr marL="0" indent="0">
              <a:buNone/>
            </a:pPr>
            <a:endParaRPr lang="en-US" sz="1200" dirty="0"/>
          </a:p>
        </p:txBody>
      </p:sp>
      <p:sp>
        <p:nvSpPr>
          <p:cNvPr id="36" name="Shape 34">
            <a:extLst>
              <a:ext uri="{FF2B5EF4-FFF2-40B4-BE49-F238E27FC236}">
                <a16:creationId xmlns:a16="http://schemas.microsoft.com/office/drawing/2014/main" id="{B30D7601-ADFC-938B-0290-630208A56E42}"/>
              </a:ext>
            </a:extLst>
          </p:cNvPr>
          <p:cNvSpPr/>
          <p:nvPr/>
        </p:nvSpPr>
        <p:spPr>
          <a:xfrm>
            <a:off x="6217920" y="4434840"/>
            <a:ext cx="5532120" cy="841248"/>
          </a:xfrm>
          <a:prstGeom prst="rect">
            <a:avLst/>
          </a:prstGeom>
          <a:solidFill>
            <a:srgbClr val="FFFFFF"/>
          </a:solidFill>
          <a:ln w="13970">
            <a:solidFill>
              <a:schemeClr val="bg1">
                <a:lumMod val="50000"/>
              </a:schemeClr>
            </a:solidFill>
            <a:prstDash val="solid"/>
          </a:ln>
        </p:spPr>
        <p:txBody>
          <a:bodyPr/>
          <a:lstStyle/>
          <a:p>
            <a:endParaRPr lang="en-IN" sz="2000"/>
          </a:p>
        </p:txBody>
      </p:sp>
      <p:sp>
        <p:nvSpPr>
          <p:cNvPr id="39" name="Text 37">
            <a:extLst>
              <a:ext uri="{FF2B5EF4-FFF2-40B4-BE49-F238E27FC236}">
                <a16:creationId xmlns:a16="http://schemas.microsoft.com/office/drawing/2014/main" id="{48CF76FA-79FC-B797-40C1-6124FA4DB569}"/>
              </a:ext>
            </a:extLst>
          </p:cNvPr>
          <p:cNvSpPr/>
          <p:nvPr/>
        </p:nvSpPr>
        <p:spPr>
          <a:xfrm>
            <a:off x="6653550" y="4434840"/>
            <a:ext cx="4709160" cy="841248"/>
          </a:xfrm>
          <a:prstGeom prst="rect">
            <a:avLst/>
          </a:prstGeom>
          <a:noFill/>
          <a:ln/>
        </p:spPr>
        <p:txBody>
          <a:bodyPr wrap="square" lIns="0" tIns="0" rIns="0" bIns="0" rtlCol="0" anchor="ctr"/>
          <a:lstStyle/>
          <a:p>
            <a:pPr marL="0" indent="0">
              <a:buNone/>
            </a:pPr>
            <a:r>
              <a:rPr lang="en-US" sz="1200" dirty="0">
                <a:solidFill>
                  <a:srgbClr val="1A1A2E"/>
                </a:solidFill>
                <a:ea typeface="Calibri" pitchFamily="34" charset="-122"/>
                <a:cs typeface="Calibri" pitchFamily="34" charset="-120"/>
              </a:rPr>
              <a:t>State Small Language Model - SLM (own fine-tuned model)</a:t>
            </a:r>
            <a:endParaRPr lang="en-US" sz="1200" dirty="0"/>
          </a:p>
        </p:txBody>
      </p:sp>
      <p:sp>
        <p:nvSpPr>
          <p:cNvPr id="40" name="Shape 38">
            <a:extLst>
              <a:ext uri="{FF2B5EF4-FFF2-40B4-BE49-F238E27FC236}">
                <a16:creationId xmlns:a16="http://schemas.microsoft.com/office/drawing/2014/main" id="{B8B4FB96-D7EF-BC97-2730-CC9768952DC5}"/>
              </a:ext>
            </a:extLst>
          </p:cNvPr>
          <p:cNvSpPr/>
          <p:nvPr/>
        </p:nvSpPr>
        <p:spPr>
          <a:xfrm>
            <a:off x="6217920" y="5394960"/>
            <a:ext cx="5532120" cy="841248"/>
          </a:xfrm>
          <a:prstGeom prst="rect">
            <a:avLst/>
          </a:prstGeom>
          <a:solidFill>
            <a:srgbClr val="FFFFFF"/>
          </a:solidFill>
          <a:ln w="13970">
            <a:solidFill>
              <a:schemeClr val="bg1">
                <a:lumMod val="50000"/>
              </a:schemeClr>
            </a:solidFill>
            <a:prstDash val="solid"/>
          </a:ln>
        </p:spPr>
        <p:txBody>
          <a:bodyPr/>
          <a:lstStyle/>
          <a:p>
            <a:endParaRPr lang="en-IN" sz="2000"/>
          </a:p>
        </p:txBody>
      </p:sp>
      <p:sp>
        <p:nvSpPr>
          <p:cNvPr id="43" name="Text 41">
            <a:extLst>
              <a:ext uri="{FF2B5EF4-FFF2-40B4-BE49-F238E27FC236}">
                <a16:creationId xmlns:a16="http://schemas.microsoft.com/office/drawing/2014/main" id="{D9664760-BC9E-06BE-39DD-5A53FA65A5AB}"/>
              </a:ext>
            </a:extLst>
          </p:cNvPr>
          <p:cNvSpPr/>
          <p:nvPr/>
        </p:nvSpPr>
        <p:spPr>
          <a:xfrm>
            <a:off x="6653550" y="5394960"/>
            <a:ext cx="4709160" cy="841248"/>
          </a:xfrm>
          <a:prstGeom prst="rect">
            <a:avLst/>
          </a:prstGeom>
          <a:noFill/>
          <a:ln/>
        </p:spPr>
        <p:txBody>
          <a:bodyPr wrap="square" lIns="0" tIns="0" rIns="0" bIns="0" rtlCol="0" anchor="ctr"/>
          <a:lstStyle/>
          <a:p>
            <a:pPr marL="0" indent="0">
              <a:buNone/>
            </a:pPr>
            <a:r>
              <a:rPr lang="en-US" sz="1200" dirty="0">
                <a:solidFill>
                  <a:srgbClr val="1A1A2E"/>
                </a:solidFill>
                <a:ea typeface="Calibri" pitchFamily="34" charset="-122"/>
                <a:cs typeface="Calibri" pitchFamily="34" charset="-120"/>
              </a:rPr>
              <a:t>State AI Stack (the full reusable enterprise architecture)</a:t>
            </a:r>
            <a:endParaRPr lang="en-US" sz="1200" dirty="0"/>
          </a:p>
        </p:txBody>
      </p:sp>
      <p:sp>
        <p:nvSpPr>
          <p:cNvPr id="56" name="Shape 3">
            <a:extLst>
              <a:ext uri="{FF2B5EF4-FFF2-40B4-BE49-F238E27FC236}">
                <a16:creationId xmlns:a16="http://schemas.microsoft.com/office/drawing/2014/main" id="{D1DB6B0C-33F4-10BD-6A26-10D6F435EEB2}"/>
              </a:ext>
            </a:extLst>
          </p:cNvPr>
          <p:cNvSpPr/>
          <p:nvPr/>
        </p:nvSpPr>
        <p:spPr>
          <a:xfrm>
            <a:off x="456339" y="1574488"/>
            <a:ext cx="324000" cy="324000"/>
          </a:xfrm>
          <a:prstGeom prst="ellipse">
            <a:avLst/>
          </a:prstGeom>
          <a:solidFill>
            <a:schemeClr val="accent3"/>
          </a:solidFill>
          <a:ln/>
        </p:spPr>
        <p:txBody>
          <a:bodyPr/>
          <a:lstStyle/>
          <a:p>
            <a:endParaRPr lang="en-IN"/>
          </a:p>
        </p:txBody>
      </p:sp>
      <p:sp>
        <p:nvSpPr>
          <p:cNvPr id="57" name="Text 4">
            <a:extLst>
              <a:ext uri="{FF2B5EF4-FFF2-40B4-BE49-F238E27FC236}">
                <a16:creationId xmlns:a16="http://schemas.microsoft.com/office/drawing/2014/main" id="{447A8203-C3C2-705A-23A4-6EB5F336EA33}"/>
              </a:ext>
            </a:extLst>
          </p:cNvPr>
          <p:cNvSpPr/>
          <p:nvPr/>
        </p:nvSpPr>
        <p:spPr>
          <a:xfrm>
            <a:off x="456339" y="1574488"/>
            <a:ext cx="324000" cy="324000"/>
          </a:xfrm>
          <a:prstGeom prst="rect">
            <a:avLst/>
          </a:prstGeom>
          <a:solidFill>
            <a:schemeClr val="accent3"/>
          </a:solid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58" name="Shape 7">
            <a:extLst>
              <a:ext uri="{FF2B5EF4-FFF2-40B4-BE49-F238E27FC236}">
                <a16:creationId xmlns:a16="http://schemas.microsoft.com/office/drawing/2014/main" id="{69F4D4DC-3853-DFDC-16A5-C871EA858AC8}"/>
              </a:ext>
            </a:extLst>
          </p:cNvPr>
          <p:cNvSpPr/>
          <p:nvPr/>
        </p:nvSpPr>
        <p:spPr>
          <a:xfrm>
            <a:off x="456339" y="2534608"/>
            <a:ext cx="324000" cy="324000"/>
          </a:xfrm>
          <a:prstGeom prst="ellipse">
            <a:avLst/>
          </a:prstGeom>
          <a:solidFill>
            <a:schemeClr val="accent3"/>
          </a:solidFill>
          <a:ln/>
        </p:spPr>
        <p:txBody>
          <a:bodyPr/>
          <a:lstStyle/>
          <a:p>
            <a:endParaRPr lang="en-IN"/>
          </a:p>
        </p:txBody>
      </p:sp>
      <p:sp>
        <p:nvSpPr>
          <p:cNvPr id="59" name="Text 8">
            <a:extLst>
              <a:ext uri="{FF2B5EF4-FFF2-40B4-BE49-F238E27FC236}">
                <a16:creationId xmlns:a16="http://schemas.microsoft.com/office/drawing/2014/main" id="{24592D5C-F6C1-7330-E95A-0D20E0A8297E}"/>
              </a:ext>
            </a:extLst>
          </p:cNvPr>
          <p:cNvSpPr/>
          <p:nvPr/>
        </p:nvSpPr>
        <p:spPr>
          <a:xfrm>
            <a:off x="456339" y="2534608"/>
            <a:ext cx="324000" cy="324000"/>
          </a:xfrm>
          <a:prstGeom prst="rect">
            <a:avLst/>
          </a:prstGeom>
          <a:solidFill>
            <a:schemeClr val="accent3"/>
          </a:solid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60" name="Shape 11">
            <a:extLst>
              <a:ext uri="{FF2B5EF4-FFF2-40B4-BE49-F238E27FC236}">
                <a16:creationId xmlns:a16="http://schemas.microsoft.com/office/drawing/2014/main" id="{E8CA37FA-E310-CDB4-FD21-AF11F5C84BB8}"/>
              </a:ext>
            </a:extLst>
          </p:cNvPr>
          <p:cNvSpPr/>
          <p:nvPr/>
        </p:nvSpPr>
        <p:spPr>
          <a:xfrm>
            <a:off x="456339" y="3494728"/>
            <a:ext cx="324000" cy="324000"/>
          </a:xfrm>
          <a:prstGeom prst="ellipse">
            <a:avLst/>
          </a:prstGeom>
          <a:solidFill>
            <a:schemeClr val="accent3"/>
          </a:solidFill>
          <a:ln/>
        </p:spPr>
        <p:txBody>
          <a:bodyPr/>
          <a:lstStyle/>
          <a:p>
            <a:endParaRPr lang="en-IN"/>
          </a:p>
        </p:txBody>
      </p:sp>
      <p:sp>
        <p:nvSpPr>
          <p:cNvPr id="61" name="Text 12">
            <a:extLst>
              <a:ext uri="{FF2B5EF4-FFF2-40B4-BE49-F238E27FC236}">
                <a16:creationId xmlns:a16="http://schemas.microsoft.com/office/drawing/2014/main" id="{414A5604-EB80-C21A-73AE-E04E7D277798}"/>
              </a:ext>
            </a:extLst>
          </p:cNvPr>
          <p:cNvSpPr/>
          <p:nvPr/>
        </p:nvSpPr>
        <p:spPr>
          <a:xfrm>
            <a:off x="456339" y="3494728"/>
            <a:ext cx="324000" cy="324000"/>
          </a:xfrm>
          <a:prstGeom prst="rect">
            <a:avLst/>
          </a:prstGeom>
          <a:solidFill>
            <a:schemeClr val="accent3"/>
          </a:solid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62" name="Shape 15">
            <a:extLst>
              <a:ext uri="{FF2B5EF4-FFF2-40B4-BE49-F238E27FC236}">
                <a16:creationId xmlns:a16="http://schemas.microsoft.com/office/drawing/2014/main" id="{AFD80AD4-F945-017F-F30D-33005F3B363A}"/>
              </a:ext>
            </a:extLst>
          </p:cNvPr>
          <p:cNvSpPr/>
          <p:nvPr/>
        </p:nvSpPr>
        <p:spPr>
          <a:xfrm>
            <a:off x="456339" y="4454848"/>
            <a:ext cx="324000" cy="324000"/>
          </a:xfrm>
          <a:prstGeom prst="ellipse">
            <a:avLst/>
          </a:prstGeom>
          <a:solidFill>
            <a:schemeClr val="accent3"/>
          </a:solidFill>
          <a:ln/>
        </p:spPr>
        <p:txBody>
          <a:bodyPr/>
          <a:lstStyle/>
          <a:p>
            <a:endParaRPr lang="en-IN"/>
          </a:p>
        </p:txBody>
      </p:sp>
      <p:sp>
        <p:nvSpPr>
          <p:cNvPr id="63" name="Text 16">
            <a:extLst>
              <a:ext uri="{FF2B5EF4-FFF2-40B4-BE49-F238E27FC236}">
                <a16:creationId xmlns:a16="http://schemas.microsoft.com/office/drawing/2014/main" id="{5AAD4751-1ED4-351B-8061-624860196CAD}"/>
              </a:ext>
            </a:extLst>
          </p:cNvPr>
          <p:cNvSpPr/>
          <p:nvPr/>
        </p:nvSpPr>
        <p:spPr>
          <a:xfrm>
            <a:off x="456339" y="4454848"/>
            <a:ext cx="324000" cy="324000"/>
          </a:xfrm>
          <a:prstGeom prst="rect">
            <a:avLst/>
          </a:prstGeom>
          <a:solidFill>
            <a:schemeClr val="accent3"/>
          </a:solid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64" name="Shape 19">
            <a:extLst>
              <a:ext uri="{FF2B5EF4-FFF2-40B4-BE49-F238E27FC236}">
                <a16:creationId xmlns:a16="http://schemas.microsoft.com/office/drawing/2014/main" id="{EAFC6035-17BB-B8DA-42A9-CAE0D9FEF416}"/>
              </a:ext>
            </a:extLst>
          </p:cNvPr>
          <p:cNvSpPr/>
          <p:nvPr/>
        </p:nvSpPr>
        <p:spPr>
          <a:xfrm>
            <a:off x="456339" y="5414968"/>
            <a:ext cx="324000" cy="324000"/>
          </a:xfrm>
          <a:prstGeom prst="ellipse">
            <a:avLst/>
          </a:prstGeom>
          <a:solidFill>
            <a:schemeClr val="accent3"/>
          </a:solidFill>
          <a:ln/>
        </p:spPr>
        <p:txBody>
          <a:bodyPr/>
          <a:lstStyle/>
          <a:p>
            <a:endParaRPr lang="en-IN"/>
          </a:p>
        </p:txBody>
      </p:sp>
      <p:sp>
        <p:nvSpPr>
          <p:cNvPr id="65" name="Text 20">
            <a:extLst>
              <a:ext uri="{FF2B5EF4-FFF2-40B4-BE49-F238E27FC236}">
                <a16:creationId xmlns:a16="http://schemas.microsoft.com/office/drawing/2014/main" id="{D5423B14-4CB5-39E6-192D-C71E65B9ADF1}"/>
              </a:ext>
            </a:extLst>
          </p:cNvPr>
          <p:cNvSpPr/>
          <p:nvPr/>
        </p:nvSpPr>
        <p:spPr>
          <a:xfrm>
            <a:off x="456339" y="5414968"/>
            <a:ext cx="324000" cy="324000"/>
          </a:xfrm>
          <a:prstGeom prst="rect">
            <a:avLst/>
          </a:prstGeom>
          <a:solidFill>
            <a:schemeClr val="accent3"/>
          </a:solid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66" name="Shape 3">
            <a:extLst>
              <a:ext uri="{FF2B5EF4-FFF2-40B4-BE49-F238E27FC236}">
                <a16:creationId xmlns:a16="http://schemas.microsoft.com/office/drawing/2014/main" id="{E6884C91-1E1B-8F8F-73DF-B094C69F155C}"/>
              </a:ext>
            </a:extLst>
          </p:cNvPr>
          <p:cNvSpPr/>
          <p:nvPr/>
        </p:nvSpPr>
        <p:spPr>
          <a:xfrm>
            <a:off x="6215250" y="1581912"/>
            <a:ext cx="324000" cy="324000"/>
          </a:xfrm>
          <a:prstGeom prst="ellipse">
            <a:avLst/>
          </a:prstGeom>
          <a:solidFill>
            <a:schemeClr val="accent3"/>
          </a:solidFill>
          <a:ln/>
        </p:spPr>
        <p:txBody>
          <a:bodyPr/>
          <a:lstStyle/>
          <a:p>
            <a:endParaRPr lang="en-IN"/>
          </a:p>
        </p:txBody>
      </p:sp>
      <p:sp>
        <p:nvSpPr>
          <p:cNvPr id="67" name="Text 4">
            <a:extLst>
              <a:ext uri="{FF2B5EF4-FFF2-40B4-BE49-F238E27FC236}">
                <a16:creationId xmlns:a16="http://schemas.microsoft.com/office/drawing/2014/main" id="{9C9B2690-307E-D9C2-AAD2-58E3CD5D8E6B}"/>
              </a:ext>
            </a:extLst>
          </p:cNvPr>
          <p:cNvSpPr/>
          <p:nvPr/>
        </p:nvSpPr>
        <p:spPr>
          <a:xfrm>
            <a:off x="6215250" y="1581912"/>
            <a:ext cx="324000" cy="324000"/>
          </a:xfrm>
          <a:prstGeom prst="rect">
            <a:avLst/>
          </a:prstGeom>
          <a:solidFill>
            <a:schemeClr val="accent3"/>
          </a:solidFill>
          <a:ln/>
        </p:spPr>
        <p:txBody>
          <a:bodyPr wrap="square" lIns="0" tIns="0" rIns="0" bIns="0" rtlCol="0" anchor="ctr"/>
          <a:lstStyle/>
          <a:p>
            <a:pPr algn="ctr"/>
            <a:r>
              <a:rPr lang="en-US" sz="1500" b="1" dirty="0">
                <a:solidFill>
                  <a:srgbClr val="FFFFFF"/>
                </a:solidFill>
                <a:latin typeface="Cambria" pitchFamily="34" charset="0"/>
                <a:ea typeface="Cambria" pitchFamily="34" charset="-122"/>
              </a:rPr>
              <a:t>6</a:t>
            </a:r>
          </a:p>
        </p:txBody>
      </p:sp>
      <p:sp>
        <p:nvSpPr>
          <p:cNvPr id="68" name="Shape 7">
            <a:extLst>
              <a:ext uri="{FF2B5EF4-FFF2-40B4-BE49-F238E27FC236}">
                <a16:creationId xmlns:a16="http://schemas.microsoft.com/office/drawing/2014/main" id="{06AA358F-50B5-86A7-5058-FCAC00E95541}"/>
              </a:ext>
            </a:extLst>
          </p:cNvPr>
          <p:cNvSpPr/>
          <p:nvPr/>
        </p:nvSpPr>
        <p:spPr>
          <a:xfrm>
            <a:off x="6215250" y="2542032"/>
            <a:ext cx="324000" cy="324000"/>
          </a:xfrm>
          <a:prstGeom prst="ellipse">
            <a:avLst/>
          </a:prstGeom>
          <a:solidFill>
            <a:schemeClr val="accent3"/>
          </a:solidFill>
          <a:ln/>
        </p:spPr>
        <p:txBody>
          <a:bodyPr/>
          <a:lstStyle/>
          <a:p>
            <a:endParaRPr lang="en-IN"/>
          </a:p>
        </p:txBody>
      </p:sp>
      <p:sp>
        <p:nvSpPr>
          <p:cNvPr id="69" name="Text 8">
            <a:extLst>
              <a:ext uri="{FF2B5EF4-FFF2-40B4-BE49-F238E27FC236}">
                <a16:creationId xmlns:a16="http://schemas.microsoft.com/office/drawing/2014/main" id="{56243F19-F29F-35FE-A67B-B3D5E13203B0}"/>
              </a:ext>
            </a:extLst>
          </p:cNvPr>
          <p:cNvSpPr/>
          <p:nvPr/>
        </p:nvSpPr>
        <p:spPr>
          <a:xfrm>
            <a:off x="6215250" y="2542032"/>
            <a:ext cx="324000" cy="324000"/>
          </a:xfrm>
          <a:prstGeom prst="rect">
            <a:avLst/>
          </a:prstGeom>
          <a:solidFill>
            <a:schemeClr val="accent3"/>
          </a:solid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7</a:t>
            </a:r>
            <a:endParaRPr lang="en-US" sz="1500" dirty="0"/>
          </a:p>
        </p:txBody>
      </p:sp>
      <p:sp>
        <p:nvSpPr>
          <p:cNvPr id="70" name="Shape 11">
            <a:extLst>
              <a:ext uri="{FF2B5EF4-FFF2-40B4-BE49-F238E27FC236}">
                <a16:creationId xmlns:a16="http://schemas.microsoft.com/office/drawing/2014/main" id="{4B88DA11-2E97-6C9F-BF96-C5F4FD73CAFA}"/>
              </a:ext>
            </a:extLst>
          </p:cNvPr>
          <p:cNvSpPr/>
          <p:nvPr/>
        </p:nvSpPr>
        <p:spPr>
          <a:xfrm>
            <a:off x="6215250" y="3502152"/>
            <a:ext cx="324000" cy="324000"/>
          </a:xfrm>
          <a:prstGeom prst="ellipse">
            <a:avLst/>
          </a:prstGeom>
          <a:solidFill>
            <a:schemeClr val="accent3"/>
          </a:solidFill>
          <a:ln/>
        </p:spPr>
        <p:txBody>
          <a:bodyPr/>
          <a:lstStyle/>
          <a:p>
            <a:endParaRPr lang="en-IN"/>
          </a:p>
        </p:txBody>
      </p:sp>
      <p:sp>
        <p:nvSpPr>
          <p:cNvPr id="71" name="Text 12">
            <a:extLst>
              <a:ext uri="{FF2B5EF4-FFF2-40B4-BE49-F238E27FC236}">
                <a16:creationId xmlns:a16="http://schemas.microsoft.com/office/drawing/2014/main" id="{A94C9396-37FC-D9D6-AE57-82D3A1F24B99}"/>
              </a:ext>
            </a:extLst>
          </p:cNvPr>
          <p:cNvSpPr/>
          <p:nvPr/>
        </p:nvSpPr>
        <p:spPr>
          <a:xfrm>
            <a:off x="6215250" y="3502152"/>
            <a:ext cx="324000" cy="324000"/>
          </a:xfrm>
          <a:prstGeom prst="rect">
            <a:avLst/>
          </a:prstGeom>
          <a:solidFill>
            <a:schemeClr val="accent3"/>
          </a:solid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8</a:t>
            </a:r>
            <a:endParaRPr lang="en-US" sz="1500" dirty="0"/>
          </a:p>
        </p:txBody>
      </p:sp>
      <p:sp>
        <p:nvSpPr>
          <p:cNvPr id="72" name="Shape 15">
            <a:extLst>
              <a:ext uri="{FF2B5EF4-FFF2-40B4-BE49-F238E27FC236}">
                <a16:creationId xmlns:a16="http://schemas.microsoft.com/office/drawing/2014/main" id="{0694FB6B-2275-E919-C7A1-7C136CE87621}"/>
              </a:ext>
            </a:extLst>
          </p:cNvPr>
          <p:cNvSpPr/>
          <p:nvPr/>
        </p:nvSpPr>
        <p:spPr>
          <a:xfrm>
            <a:off x="6215250" y="4462272"/>
            <a:ext cx="324000" cy="324000"/>
          </a:xfrm>
          <a:prstGeom prst="ellipse">
            <a:avLst/>
          </a:prstGeom>
          <a:solidFill>
            <a:schemeClr val="accent3"/>
          </a:solidFill>
          <a:ln/>
        </p:spPr>
        <p:txBody>
          <a:bodyPr/>
          <a:lstStyle/>
          <a:p>
            <a:endParaRPr lang="en-IN"/>
          </a:p>
        </p:txBody>
      </p:sp>
      <p:sp>
        <p:nvSpPr>
          <p:cNvPr id="73" name="Text 16">
            <a:extLst>
              <a:ext uri="{FF2B5EF4-FFF2-40B4-BE49-F238E27FC236}">
                <a16:creationId xmlns:a16="http://schemas.microsoft.com/office/drawing/2014/main" id="{43FB720C-EFD1-A191-E410-D890A6881AA2}"/>
              </a:ext>
            </a:extLst>
          </p:cNvPr>
          <p:cNvSpPr/>
          <p:nvPr/>
        </p:nvSpPr>
        <p:spPr>
          <a:xfrm>
            <a:off x="6215250" y="4462272"/>
            <a:ext cx="324000" cy="324000"/>
          </a:xfrm>
          <a:prstGeom prst="rect">
            <a:avLst/>
          </a:prstGeom>
          <a:solidFill>
            <a:schemeClr val="accent3"/>
          </a:solid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9</a:t>
            </a:r>
            <a:endParaRPr lang="en-US" sz="1500" dirty="0"/>
          </a:p>
        </p:txBody>
      </p:sp>
      <p:sp>
        <p:nvSpPr>
          <p:cNvPr id="74" name="Shape 19">
            <a:extLst>
              <a:ext uri="{FF2B5EF4-FFF2-40B4-BE49-F238E27FC236}">
                <a16:creationId xmlns:a16="http://schemas.microsoft.com/office/drawing/2014/main" id="{81BBEA9F-BF99-0009-E290-F05AF952D045}"/>
              </a:ext>
            </a:extLst>
          </p:cNvPr>
          <p:cNvSpPr/>
          <p:nvPr/>
        </p:nvSpPr>
        <p:spPr>
          <a:xfrm>
            <a:off x="6215250" y="5422392"/>
            <a:ext cx="324000" cy="324000"/>
          </a:xfrm>
          <a:prstGeom prst="ellipse">
            <a:avLst/>
          </a:prstGeom>
          <a:solidFill>
            <a:schemeClr val="accent3"/>
          </a:solidFill>
          <a:ln/>
        </p:spPr>
        <p:txBody>
          <a:bodyPr/>
          <a:lstStyle/>
          <a:p>
            <a:endParaRPr lang="en-IN"/>
          </a:p>
        </p:txBody>
      </p:sp>
      <p:sp>
        <p:nvSpPr>
          <p:cNvPr id="75" name="Text 20">
            <a:extLst>
              <a:ext uri="{FF2B5EF4-FFF2-40B4-BE49-F238E27FC236}">
                <a16:creationId xmlns:a16="http://schemas.microsoft.com/office/drawing/2014/main" id="{C5BFAF37-7377-F6EE-D99A-30D324BF0C9F}"/>
              </a:ext>
            </a:extLst>
          </p:cNvPr>
          <p:cNvSpPr/>
          <p:nvPr/>
        </p:nvSpPr>
        <p:spPr>
          <a:xfrm>
            <a:off x="6215250" y="5422392"/>
            <a:ext cx="324000" cy="324000"/>
          </a:xfrm>
          <a:prstGeom prst="rect">
            <a:avLst/>
          </a:prstGeom>
          <a:solidFill>
            <a:schemeClr val="accent3"/>
          </a:solid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10</a:t>
            </a:r>
            <a:endParaRPr lang="en-US" sz="1500" dirty="0"/>
          </a:p>
        </p:txBody>
      </p:sp>
    </p:spTree>
    <p:extLst>
      <p:ext uri="{BB962C8B-B14F-4D97-AF65-F5344CB8AC3E}">
        <p14:creationId xmlns:p14="http://schemas.microsoft.com/office/powerpoint/2010/main" val="18092095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314CA-CC22-956D-B9DC-6C680903BF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2D18B0-8D3D-94C3-6FE9-F5EF3CAA745C}"/>
              </a:ext>
            </a:extLst>
          </p:cNvPr>
          <p:cNvSpPr txBox="1">
            <a:spLocks/>
          </p:cNvSpPr>
          <p:nvPr/>
        </p:nvSpPr>
        <p:spPr>
          <a:xfrm>
            <a:off x="473642" y="257967"/>
            <a:ext cx="11120259" cy="594360"/>
          </a:xfrm>
          <a:prstGeom prst="rect">
            <a:avLst/>
          </a:prstGeom>
        </p:spPr>
        <p:txBody>
          <a:bodyPr vert="horz" lIns="0" tIns="45720" rIns="0" bIns="0" rtlCol="0" anchor="b" anchorCtr="0">
            <a:noAutofit/>
          </a:bodyPr>
          <a:lstStyle>
            <a:lvl1pPr algn="l" defTabSz="914400" rtl="0" eaLnBrk="1" latinLnBrk="0" hangingPunct="1">
              <a:lnSpc>
                <a:spcPct val="80000"/>
              </a:lnSpc>
              <a:spcBef>
                <a:spcPct val="0"/>
              </a:spcBef>
              <a:buNone/>
              <a:defRPr lang="en-US" sz="3600" b="0" i="0" kern="1200" cap="none" spc="-75" baseline="0" dirty="0">
                <a:solidFill>
                  <a:schemeClr val="tx1"/>
                </a:solidFill>
                <a:latin typeface="+mj-lt"/>
                <a:ea typeface="Bebas Neue" charset="0"/>
                <a:cs typeface="Chronicle Display Black"/>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lang="it-IT" sz="3200" dirty="0">
                <a:solidFill>
                  <a:srgbClr val="000000"/>
                </a:solidFill>
                <a:latin typeface="Calibri" panose="020F0502020204030204" pitchFamily="34" charset="0"/>
                <a:cs typeface="Calibri" panose="020F0502020204030204" pitchFamily="34" charset="0"/>
              </a:rPr>
              <a:t>Enterprise AI Platform</a:t>
            </a:r>
          </a:p>
        </p:txBody>
      </p:sp>
      <p:sp>
        <p:nvSpPr>
          <p:cNvPr id="3" name="Text 2">
            <a:extLst>
              <a:ext uri="{FF2B5EF4-FFF2-40B4-BE49-F238E27FC236}">
                <a16:creationId xmlns:a16="http://schemas.microsoft.com/office/drawing/2014/main" id="{1B2AFBB2-9FE4-7F7D-3889-A02086B15362}"/>
              </a:ext>
            </a:extLst>
          </p:cNvPr>
          <p:cNvSpPr/>
          <p:nvPr/>
        </p:nvSpPr>
        <p:spPr>
          <a:xfrm>
            <a:off x="457200" y="1023786"/>
            <a:ext cx="11247120" cy="274320"/>
          </a:xfrm>
          <a:prstGeom prst="rect">
            <a:avLst/>
          </a:prstGeom>
          <a:noFill/>
          <a:ln/>
        </p:spPr>
        <p:txBody>
          <a:bodyPr wrap="square" lIns="0" tIns="0" rIns="0" bIns="0" rtlCol="0" anchor="ctr"/>
          <a:lstStyle/>
          <a:p>
            <a:r>
              <a:rPr lang="en-IN" sz="1200" dirty="0">
                <a:solidFill>
                  <a:schemeClr val="bg1">
                    <a:lumMod val="50000"/>
                  </a:schemeClr>
                </a:solidFill>
              </a:rPr>
              <a:t>A centralized AI platform that provides reusable AI infrastructure, foundation models, and shared AI services for all government departments.</a:t>
            </a:r>
            <a:endParaRPr lang="en-US" sz="1200" dirty="0">
              <a:solidFill>
                <a:schemeClr val="bg1">
                  <a:lumMod val="50000"/>
                </a:schemeClr>
              </a:solidFill>
            </a:endParaRPr>
          </a:p>
        </p:txBody>
      </p:sp>
      <p:sp>
        <p:nvSpPr>
          <p:cNvPr id="5" name="Text 3">
            <a:extLst>
              <a:ext uri="{FF2B5EF4-FFF2-40B4-BE49-F238E27FC236}">
                <a16:creationId xmlns:a16="http://schemas.microsoft.com/office/drawing/2014/main" id="{F8C736A7-79E4-4F27-715C-EC92357AE692}"/>
              </a:ext>
            </a:extLst>
          </p:cNvPr>
          <p:cNvSpPr/>
          <p:nvPr/>
        </p:nvSpPr>
        <p:spPr>
          <a:xfrm>
            <a:off x="457200" y="1330197"/>
            <a:ext cx="5120640" cy="256032"/>
          </a:xfrm>
          <a:prstGeom prst="rect">
            <a:avLst/>
          </a:prstGeom>
          <a:noFill/>
          <a:ln/>
        </p:spPr>
        <p:txBody>
          <a:bodyPr wrap="square" lIns="0" tIns="0" rIns="0" bIns="0" rtlCol="0" anchor="ctr"/>
          <a:lstStyle/>
          <a:p>
            <a:pPr marL="0" indent="0">
              <a:buNone/>
            </a:pPr>
            <a:r>
              <a:rPr lang="en-US" sz="1200" b="1" kern="0" spc="100" dirty="0">
                <a:solidFill>
                  <a:srgbClr val="F2B705"/>
                </a:solidFill>
                <a:ea typeface="Calibri" pitchFamily="34" charset="-122"/>
                <a:cs typeface="Calibri" pitchFamily="34" charset="-120"/>
              </a:rPr>
              <a:t>Features</a:t>
            </a:r>
            <a:endParaRPr lang="en-US" sz="1200" dirty="0"/>
          </a:p>
        </p:txBody>
      </p:sp>
      <p:sp>
        <p:nvSpPr>
          <p:cNvPr id="6" name="Text 4">
            <a:extLst>
              <a:ext uri="{FF2B5EF4-FFF2-40B4-BE49-F238E27FC236}">
                <a16:creationId xmlns:a16="http://schemas.microsoft.com/office/drawing/2014/main" id="{C959C824-DB6A-C73A-3E68-3404AC6B8B39}"/>
              </a:ext>
            </a:extLst>
          </p:cNvPr>
          <p:cNvSpPr/>
          <p:nvPr/>
        </p:nvSpPr>
        <p:spPr>
          <a:xfrm>
            <a:off x="457200" y="1586229"/>
            <a:ext cx="5120640" cy="1417320"/>
          </a:xfrm>
          <a:prstGeom prst="rect">
            <a:avLst/>
          </a:prstGeom>
          <a:noFill/>
          <a:ln/>
        </p:spPr>
        <p:txBody>
          <a:bodyPr wrap="square" lIns="0" tIns="0" rIns="0" bIns="0" rtlCol="0" anchor="t"/>
          <a:lstStyle/>
          <a:p>
            <a:pPr marL="171450" indent="-171450">
              <a:buFont typeface="Arial" panose="020B0604020202020204" pitchFamily="34" charset="0"/>
              <a:buChar char="•"/>
            </a:pPr>
            <a:r>
              <a:rPr lang="en-IN" sz="1200" dirty="0"/>
              <a:t>LLM orchestration and multi-LLM access</a:t>
            </a:r>
          </a:p>
          <a:p>
            <a:pPr marL="171450" indent="-171450">
              <a:buFont typeface="Arial" panose="020B0604020202020204" pitchFamily="34" charset="0"/>
              <a:buChar char="•"/>
            </a:pPr>
            <a:r>
              <a:rPr lang="en-IN" sz="1200" dirty="0"/>
              <a:t>API Gateway for AI services </a:t>
            </a:r>
          </a:p>
          <a:p>
            <a:pPr marL="171450" indent="-171450">
              <a:buFont typeface="Arial" panose="020B0604020202020204" pitchFamily="34" charset="0"/>
              <a:buChar char="•"/>
            </a:pPr>
            <a:r>
              <a:rPr lang="en-IN" sz="1200" dirty="0"/>
              <a:t>GPU-as-a-Service (subject to discussion)</a:t>
            </a:r>
          </a:p>
          <a:p>
            <a:pPr marL="171450" indent="-171450">
              <a:buFont typeface="Arial" panose="020B0604020202020204" pitchFamily="34" charset="0"/>
              <a:buChar char="•"/>
            </a:pPr>
            <a:r>
              <a:rPr lang="en-IN" sz="1200" dirty="0"/>
              <a:t>Enterprise vector database </a:t>
            </a:r>
          </a:p>
          <a:p>
            <a:pPr marL="171450" indent="-171450">
              <a:buFont typeface="Arial" panose="020B0604020202020204" pitchFamily="34" charset="0"/>
              <a:buChar char="•"/>
            </a:pPr>
            <a:r>
              <a:rPr lang="en-IN" sz="1200" dirty="0"/>
              <a:t>Prompt management and reusable prompt library </a:t>
            </a:r>
          </a:p>
          <a:p>
            <a:pPr marL="171450" indent="-171450">
              <a:buFont typeface="Arial" panose="020B0604020202020204" pitchFamily="34" charset="0"/>
              <a:buChar char="•"/>
            </a:pPr>
            <a:r>
              <a:rPr lang="en-IN" sz="1200" dirty="0"/>
              <a:t>Model registry and lifecycle management </a:t>
            </a:r>
          </a:p>
          <a:p>
            <a:pPr marL="171450" indent="-171450">
              <a:buFont typeface="Arial" panose="020B0604020202020204" pitchFamily="34" charset="0"/>
              <a:buChar char="•"/>
            </a:pPr>
            <a:r>
              <a:rPr lang="en-IN" sz="1200" dirty="0"/>
              <a:t>Role based access</a:t>
            </a:r>
          </a:p>
          <a:p>
            <a:pPr marL="171450" indent="-171450">
              <a:buFont typeface="Arial" panose="020B0604020202020204" pitchFamily="34" charset="0"/>
              <a:buChar char="•"/>
            </a:pPr>
            <a:r>
              <a:rPr lang="en-IN" sz="1200" dirty="0"/>
              <a:t>Usage analytics and </a:t>
            </a:r>
            <a:r>
              <a:rPr lang="en-IN" sz="1080" dirty="0">
                <a:solidFill>
                  <a:srgbClr val="1A1A2E"/>
                </a:solidFill>
                <a:ea typeface="Calibri" pitchFamily="34" charset="-122"/>
                <a:cs typeface="Calibri" pitchFamily="34" charset="-120"/>
              </a:rPr>
              <a:t>cost</a:t>
            </a:r>
            <a:r>
              <a:rPr lang="en-IN" sz="1200" dirty="0"/>
              <a:t> monitoring </a:t>
            </a:r>
          </a:p>
          <a:p>
            <a:pPr marL="171450" indent="-171450">
              <a:buFont typeface="Arial" panose="020B0604020202020204" pitchFamily="34" charset="0"/>
              <a:buChar char="•"/>
            </a:pPr>
            <a:r>
              <a:rPr lang="en-IN" sz="1200" dirty="0"/>
              <a:t>Responsible AI guardrails and audit logging </a:t>
            </a:r>
          </a:p>
          <a:p>
            <a:pPr marL="171450" indent="-171450">
              <a:buFont typeface="Arial" panose="020B0604020202020204" pitchFamily="34" charset="0"/>
              <a:buChar char="•"/>
            </a:pPr>
            <a:r>
              <a:rPr lang="en-IN" sz="1200" dirty="0"/>
              <a:t>SDKs and low-code/No-code development</a:t>
            </a:r>
          </a:p>
        </p:txBody>
      </p:sp>
      <p:sp>
        <p:nvSpPr>
          <p:cNvPr id="13" name="Shape 7">
            <a:extLst>
              <a:ext uri="{FF2B5EF4-FFF2-40B4-BE49-F238E27FC236}">
                <a16:creationId xmlns:a16="http://schemas.microsoft.com/office/drawing/2014/main" id="{9A1CA109-54E7-6B71-0A9E-4C3C6EB68A53}"/>
              </a:ext>
            </a:extLst>
          </p:cNvPr>
          <p:cNvSpPr/>
          <p:nvPr/>
        </p:nvSpPr>
        <p:spPr>
          <a:xfrm>
            <a:off x="5715000" y="1407835"/>
            <a:ext cx="2788920" cy="2384543"/>
          </a:xfrm>
          <a:prstGeom prst="rect">
            <a:avLst/>
          </a:prstGeom>
          <a:solidFill>
            <a:schemeClr val="bg1">
              <a:lumMod val="95000"/>
            </a:schemeClr>
          </a:solidFill>
          <a:ln w="12700">
            <a:solidFill>
              <a:schemeClr val="bg1">
                <a:lumMod val="95000"/>
              </a:schemeClr>
            </a:solidFill>
            <a:prstDash val="solid"/>
          </a:ln>
        </p:spPr>
        <p:txBody>
          <a:bodyPr/>
          <a:lstStyle/>
          <a:p>
            <a:endParaRPr lang="en-IN"/>
          </a:p>
        </p:txBody>
      </p:sp>
      <p:sp>
        <p:nvSpPr>
          <p:cNvPr id="14" name="Text 8">
            <a:extLst>
              <a:ext uri="{FF2B5EF4-FFF2-40B4-BE49-F238E27FC236}">
                <a16:creationId xmlns:a16="http://schemas.microsoft.com/office/drawing/2014/main" id="{CC0AC44B-4158-DFE5-54EA-746939F8931E}"/>
              </a:ext>
            </a:extLst>
          </p:cNvPr>
          <p:cNvSpPr/>
          <p:nvPr/>
        </p:nvSpPr>
        <p:spPr>
          <a:xfrm>
            <a:off x="5897880" y="1517562"/>
            <a:ext cx="2468880" cy="256032"/>
          </a:xfrm>
          <a:prstGeom prst="rect">
            <a:avLst/>
          </a:prstGeom>
          <a:noFill/>
          <a:ln/>
        </p:spPr>
        <p:txBody>
          <a:bodyPr wrap="square" lIns="0" tIns="0" rIns="0" bIns="0" rtlCol="0" anchor="ctr"/>
          <a:lstStyle/>
          <a:p>
            <a:pPr marL="0" indent="0">
              <a:buNone/>
            </a:pPr>
            <a:r>
              <a:rPr lang="en-US" sz="1100" b="1" kern="0" spc="100" dirty="0">
                <a:solidFill>
                  <a:srgbClr val="4C9F70"/>
                </a:solidFill>
                <a:ea typeface="Calibri" pitchFamily="34" charset="-122"/>
                <a:cs typeface="Calibri" pitchFamily="34" charset="-120"/>
              </a:rPr>
              <a:t>Advantages</a:t>
            </a:r>
            <a:endParaRPr lang="en-US" sz="1100" dirty="0"/>
          </a:p>
        </p:txBody>
      </p:sp>
      <p:sp>
        <p:nvSpPr>
          <p:cNvPr id="17" name="Text 9">
            <a:extLst>
              <a:ext uri="{FF2B5EF4-FFF2-40B4-BE49-F238E27FC236}">
                <a16:creationId xmlns:a16="http://schemas.microsoft.com/office/drawing/2014/main" id="{7E27C09F-7762-D9B6-09C0-3E1E57310927}"/>
              </a:ext>
            </a:extLst>
          </p:cNvPr>
          <p:cNvSpPr/>
          <p:nvPr/>
        </p:nvSpPr>
        <p:spPr>
          <a:xfrm>
            <a:off x="5897880" y="1791882"/>
            <a:ext cx="2468880" cy="2834640"/>
          </a:xfrm>
          <a:prstGeom prst="rect">
            <a:avLst/>
          </a:prstGeom>
          <a:noFill/>
          <a:ln/>
        </p:spPr>
        <p:txBody>
          <a:bodyPr wrap="square" lIns="0" tIns="0" rIns="0" bIns="0" rtlCol="0" anchor="t"/>
          <a:lstStyle/>
          <a:p>
            <a:pPr marL="177800" indent="-177800">
              <a:buSzPct val="100000"/>
              <a:buChar char="▪"/>
            </a:pPr>
            <a:r>
              <a:rPr lang="en-US" sz="1080" dirty="0">
                <a:solidFill>
                  <a:srgbClr val="1A1A2E"/>
                </a:solidFill>
                <a:ea typeface="Calibri" pitchFamily="34" charset="-122"/>
                <a:cs typeface="Calibri" pitchFamily="34" charset="-120"/>
              </a:rPr>
              <a:t>Creates a common AI foundation that can be reused across all departments, reducing duplication.</a:t>
            </a:r>
          </a:p>
          <a:p>
            <a:pPr marL="177800" indent="-177800">
              <a:buSzPct val="100000"/>
              <a:buChar char="▪"/>
            </a:pPr>
            <a:r>
              <a:rPr lang="en-US" sz="1080" dirty="0">
                <a:solidFill>
                  <a:srgbClr val="1A1A2E"/>
                </a:solidFill>
                <a:ea typeface="Calibri" pitchFamily="34" charset="-122"/>
                <a:cs typeface="Calibri" pitchFamily="34" charset="-120"/>
              </a:rPr>
              <a:t>Consistent governance, security and audit.</a:t>
            </a:r>
            <a:endParaRPr lang="en-US" sz="1080" dirty="0"/>
          </a:p>
          <a:p>
            <a:pPr marL="177800" indent="-177800">
              <a:buSzPct val="100000"/>
              <a:buChar char="▪"/>
            </a:pPr>
            <a:r>
              <a:rPr lang="en-US" sz="1080" dirty="0">
                <a:solidFill>
                  <a:srgbClr val="1A1A2E"/>
                </a:solidFill>
                <a:ea typeface="Calibri" pitchFamily="34" charset="-122"/>
                <a:cs typeface="Calibri" pitchFamily="34" charset="-120"/>
              </a:rPr>
              <a:t>Removes duplicate GPU procurement</a:t>
            </a:r>
          </a:p>
          <a:p>
            <a:pPr marL="177800" marR="0" lvl="0" indent="-177800" fontAlgn="auto">
              <a:lnSpc>
                <a:spcPct val="100000"/>
              </a:lnSpc>
              <a:spcBef>
                <a:spcPts val="0"/>
              </a:spcBef>
              <a:buClrTx/>
              <a:buSzPct val="100000"/>
              <a:buFontTx/>
              <a:buChar char="▪"/>
              <a:tabLst/>
              <a:defRPr/>
            </a:pPr>
            <a:r>
              <a:rPr lang="en-IN" sz="1080" dirty="0">
                <a:solidFill>
                  <a:srgbClr val="1A1A2E"/>
                </a:solidFill>
                <a:ea typeface="Calibri" pitchFamily="34" charset="-122"/>
                <a:cs typeface="Calibri" pitchFamily="34" charset="-120"/>
              </a:rPr>
              <a:t>Accelerates deployment of new AI applications using reusable platform services. </a:t>
            </a:r>
          </a:p>
          <a:p>
            <a:pPr marL="177800" marR="0" lvl="0" indent="-177800" fontAlgn="auto">
              <a:lnSpc>
                <a:spcPct val="100000"/>
              </a:lnSpc>
              <a:spcBef>
                <a:spcPts val="0"/>
              </a:spcBef>
              <a:buClrTx/>
              <a:buSzPct val="100000"/>
              <a:buFontTx/>
              <a:buChar char="▪"/>
              <a:tabLst/>
              <a:defRPr/>
            </a:pPr>
            <a:r>
              <a:rPr lang="en-IN" sz="1080" dirty="0">
                <a:solidFill>
                  <a:srgbClr val="1A1A2E"/>
                </a:solidFill>
                <a:ea typeface="Calibri" pitchFamily="34" charset="-122"/>
                <a:cs typeface="Calibri" pitchFamily="34" charset="-120"/>
              </a:rPr>
              <a:t>Simplifies monitoring of AI usage, performance, and costs across departments. </a:t>
            </a:r>
            <a:endParaRPr lang="en-US" sz="1080" dirty="0"/>
          </a:p>
        </p:txBody>
      </p:sp>
      <p:sp>
        <p:nvSpPr>
          <p:cNvPr id="18" name="Shape 10">
            <a:extLst>
              <a:ext uri="{FF2B5EF4-FFF2-40B4-BE49-F238E27FC236}">
                <a16:creationId xmlns:a16="http://schemas.microsoft.com/office/drawing/2014/main" id="{6BAB519A-1FF3-9605-9F65-8E09BD12B2BE}"/>
              </a:ext>
            </a:extLst>
          </p:cNvPr>
          <p:cNvSpPr/>
          <p:nvPr/>
        </p:nvSpPr>
        <p:spPr>
          <a:xfrm>
            <a:off x="8641080" y="1407835"/>
            <a:ext cx="3090672" cy="2384543"/>
          </a:xfrm>
          <a:prstGeom prst="rect">
            <a:avLst/>
          </a:prstGeom>
          <a:solidFill>
            <a:schemeClr val="bg1">
              <a:lumMod val="95000"/>
            </a:schemeClr>
          </a:solidFill>
          <a:ln w="12700">
            <a:solidFill>
              <a:schemeClr val="bg1">
                <a:lumMod val="95000"/>
              </a:schemeClr>
            </a:solidFill>
            <a:prstDash val="solid"/>
          </a:ln>
        </p:spPr>
        <p:txBody>
          <a:bodyPr/>
          <a:lstStyle/>
          <a:p>
            <a:endParaRPr lang="en-IN"/>
          </a:p>
        </p:txBody>
      </p:sp>
      <p:sp>
        <p:nvSpPr>
          <p:cNvPr id="21" name="Text 11">
            <a:extLst>
              <a:ext uri="{FF2B5EF4-FFF2-40B4-BE49-F238E27FC236}">
                <a16:creationId xmlns:a16="http://schemas.microsoft.com/office/drawing/2014/main" id="{F4212DD7-AD8A-9830-4E3E-02328C0E4F12}"/>
              </a:ext>
            </a:extLst>
          </p:cNvPr>
          <p:cNvSpPr/>
          <p:nvPr/>
        </p:nvSpPr>
        <p:spPr>
          <a:xfrm>
            <a:off x="8823960" y="1517562"/>
            <a:ext cx="2743200" cy="256032"/>
          </a:xfrm>
          <a:prstGeom prst="rect">
            <a:avLst/>
          </a:prstGeom>
          <a:noFill/>
          <a:ln/>
        </p:spPr>
        <p:txBody>
          <a:bodyPr wrap="square" lIns="0" tIns="0" rIns="0" bIns="0" rtlCol="0" anchor="ctr"/>
          <a:lstStyle/>
          <a:p>
            <a:pPr marL="0" indent="0">
              <a:buNone/>
            </a:pPr>
            <a:r>
              <a:rPr lang="en-US" sz="1100" b="1" kern="0" spc="100" dirty="0">
                <a:solidFill>
                  <a:srgbClr val="B23A48"/>
                </a:solidFill>
                <a:ea typeface="Calibri" pitchFamily="34" charset="-122"/>
                <a:cs typeface="Calibri" pitchFamily="34" charset="-120"/>
              </a:rPr>
              <a:t>Challenges</a:t>
            </a:r>
            <a:endParaRPr lang="en-US" sz="1100" dirty="0"/>
          </a:p>
        </p:txBody>
      </p:sp>
      <p:sp>
        <p:nvSpPr>
          <p:cNvPr id="22" name="Text 12">
            <a:extLst>
              <a:ext uri="{FF2B5EF4-FFF2-40B4-BE49-F238E27FC236}">
                <a16:creationId xmlns:a16="http://schemas.microsoft.com/office/drawing/2014/main" id="{55635C4F-7B7D-CE70-E40F-6504AE3DB6D4}"/>
              </a:ext>
            </a:extLst>
          </p:cNvPr>
          <p:cNvSpPr/>
          <p:nvPr/>
        </p:nvSpPr>
        <p:spPr>
          <a:xfrm>
            <a:off x="8823960" y="1791882"/>
            <a:ext cx="2743200" cy="2161474"/>
          </a:xfrm>
          <a:prstGeom prst="rect">
            <a:avLst/>
          </a:prstGeom>
          <a:noFill/>
          <a:ln/>
        </p:spPr>
        <p:txBody>
          <a:bodyPr wrap="square" lIns="0" tIns="0" rIns="0" bIns="0" rtlCol="0" anchor="t"/>
          <a:lstStyle/>
          <a:p>
            <a:pPr marL="177800" indent="-177800">
              <a:buSzPct val="100000"/>
              <a:buChar char="▪"/>
            </a:pPr>
            <a:r>
              <a:rPr lang="en-US" sz="1080" dirty="0">
                <a:solidFill>
                  <a:srgbClr val="1A1A2E"/>
                </a:solidFill>
                <a:ea typeface="Calibri" pitchFamily="34" charset="-122"/>
                <a:cs typeface="Calibri" pitchFamily="34" charset="-120"/>
              </a:rPr>
              <a:t>Success of Platform investment depends upon Departments adoption/utilization of platform services which requires extensive training, support and monitoring.</a:t>
            </a:r>
          </a:p>
          <a:p>
            <a:pPr marL="177800" indent="-177800">
              <a:buSzPct val="100000"/>
              <a:buChar char="▪"/>
            </a:pPr>
            <a:r>
              <a:rPr lang="en-US" sz="1080" dirty="0">
                <a:solidFill>
                  <a:srgbClr val="1A1A2E"/>
                </a:solidFill>
                <a:ea typeface="Calibri" pitchFamily="34" charset="-122"/>
                <a:cs typeface="Calibri" pitchFamily="34" charset="-120"/>
              </a:rPr>
              <a:t>Needs a dedicated platform engineering and </a:t>
            </a:r>
            <a:r>
              <a:rPr lang="en-US" sz="1080" dirty="0" err="1">
                <a:solidFill>
                  <a:srgbClr val="1A1A2E"/>
                </a:solidFill>
                <a:ea typeface="Calibri" pitchFamily="34" charset="-122"/>
                <a:cs typeface="Calibri" pitchFamily="34" charset="-120"/>
              </a:rPr>
              <a:t>MLOps</a:t>
            </a:r>
            <a:r>
              <a:rPr lang="en-US" sz="1080" dirty="0">
                <a:solidFill>
                  <a:srgbClr val="1A1A2E"/>
                </a:solidFill>
                <a:ea typeface="Calibri" pitchFamily="34" charset="-122"/>
                <a:cs typeface="Calibri" pitchFamily="34" charset="-120"/>
              </a:rPr>
              <a:t> team for ongoing operations. </a:t>
            </a:r>
          </a:p>
          <a:p>
            <a:pPr marL="177800" indent="-177800">
              <a:buSzPct val="100000"/>
              <a:buChar char="▪"/>
            </a:pPr>
            <a:r>
              <a:rPr lang="en-US" sz="1080" dirty="0">
                <a:solidFill>
                  <a:srgbClr val="1A1A2E"/>
                </a:solidFill>
                <a:ea typeface="Calibri" pitchFamily="34" charset="-122"/>
                <a:cs typeface="Calibri" pitchFamily="34" charset="-120"/>
              </a:rPr>
              <a:t>Needs multi-tenant cost allocation model</a:t>
            </a:r>
            <a:endParaRPr lang="en-US" sz="1080" dirty="0"/>
          </a:p>
          <a:p>
            <a:pPr marL="177800" indent="-177800">
              <a:buSzPct val="100000"/>
              <a:buChar char="▪"/>
            </a:pPr>
            <a:r>
              <a:rPr lang="en-US" sz="1080" dirty="0">
                <a:solidFill>
                  <a:srgbClr val="1A1A2E"/>
                </a:solidFill>
                <a:ea typeface="Calibri" pitchFamily="34" charset="-122"/>
                <a:cs typeface="Calibri" pitchFamily="34" charset="-120"/>
              </a:rPr>
              <a:t>Technology upgrades will be required as AI models and tools evolve.</a:t>
            </a:r>
          </a:p>
        </p:txBody>
      </p:sp>
      <p:sp>
        <p:nvSpPr>
          <p:cNvPr id="46" name="Shape 25">
            <a:extLst>
              <a:ext uri="{FF2B5EF4-FFF2-40B4-BE49-F238E27FC236}">
                <a16:creationId xmlns:a16="http://schemas.microsoft.com/office/drawing/2014/main" id="{D26A0AC4-C019-C359-77AB-75F600EEBCBC}"/>
              </a:ext>
            </a:extLst>
          </p:cNvPr>
          <p:cNvSpPr/>
          <p:nvPr/>
        </p:nvSpPr>
        <p:spPr>
          <a:xfrm>
            <a:off x="457200" y="5943600"/>
            <a:ext cx="11247120" cy="566928"/>
          </a:xfrm>
          <a:prstGeom prst="roundRect">
            <a:avLst>
              <a:gd name="adj" fmla="val 9677"/>
            </a:avLst>
          </a:prstGeom>
          <a:solidFill>
            <a:schemeClr val="accent3"/>
          </a:solidFill>
          <a:ln/>
        </p:spPr>
        <p:txBody>
          <a:bodyPr/>
          <a:lstStyle/>
          <a:p>
            <a:endParaRPr lang="en-IN"/>
          </a:p>
        </p:txBody>
      </p:sp>
      <p:sp>
        <p:nvSpPr>
          <p:cNvPr id="47" name="Text 26">
            <a:extLst>
              <a:ext uri="{FF2B5EF4-FFF2-40B4-BE49-F238E27FC236}">
                <a16:creationId xmlns:a16="http://schemas.microsoft.com/office/drawing/2014/main" id="{1A7C70AD-BA3E-3237-E96D-2F9B7F696B0B}"/>
              </a:ext>
            </a:extLst>
          </p:cNvPr>
          <p:cNvSpPr/>
          <p:nvPr/>
        </p:nvSpPr>
        <p:spPr>
          <a:xfrm>
            <a:off x="640080" y="5943600"/>
            <a:ext cx="10881360" cy="566928"/>
          </a:xfrm>
          <a:prstGeom prst="rect">
            <a:avLst/>
          </a:prstGeom>
          <a:noFill/>
          <a:ln/>
        </p:spPr>
        <p:txBody>
          <a:bodyPr wrap="square" lIns="0" tIns="0" rIns="0" bIns="0" rtlCol="0" anchor="ctr"/>
          <a:lstStyle/>
          <a:p>
            <a:pPr marL="0" indent="0">
              <a:buNone/>
            </a:pPr>
            <a:r>
              <a:rPr lang="en-US" sz="1150" b="1" dirty="0">
                <a:solidFill>
                  <a:srgbClr val="F2B705"/>
                </a:solidFill>
                <a:ea typeface="Calibri" pitchFamily="34" charset="-122"/>
                <a:cs typeface="Calibri" pitchFamily="34" charset="-120"/>
              </a:rPr>
              <a:t>Recommendation:  </a:t>
            </a:r>
            <a:r>
              <a:rPr lang="en-US" sz="1200" dirty="0">
                <a:solidFill>
                  <a:schemeClr val="bg1"/>
                </a:solidFill>
              </a:rPr>
              <a:t>May be implemented subject to adequate need establishment and support from the departments with respect to the priority use cases to be implemented</a:t>
            </a:r>
          </a:p>
        </p:txBody>
      </p:sp>
      <p:sp>
        <p:nvSpPr>
          <p:cNvPr id="51" name="Text 3">
            <a:extLst>
              <a:ext uri="{FF2B5EF4-FFF2-40B4-BE49-F238E27FC236}">
                <a16:creationId xmlns:a16="http://schemas.microsoft.com/office/drawing/2014/main" id="{F4E7501E-448C-2C0E-784B-F0CD1C3440B8}"/>
              </a:ext>
            </a:extLst>
          </p:cNvPr>
          <p:cNvSpPr/>
          <p:nvPr/>
        </p:nvSpPr>
        <p:spPr>
          <a:xfrm>
            <a:off x="432054" y="3507806"/>
            <a:ext cx="5120640" cy="256032"/>
          </a:xfrm>
          <a:prstGeom prst="rect">
            <a:avLst/>
          </a:prstGeom>
          <a:noFill/>
          <a:ln/>
        </p:spPr>
        <p:txBody>
          <a:bodyPr wrap="square" lIns="0" tIns="0" rIns="0" bIns="0" rtlCol="0" anchor="ctr"/>
          <a:lstStyle/>
          <a:p>
            <a:pPr marL="0" indent="0">
              <a:buNone/>
            </a:pPr>
            <a:r>
              <a:rPr lang="en-US" sz="1200" b="1" kern="0" spc="100" dirty="0">
                <a:solidFill>
                  <a:srgbClr val="F2B705"/>
                </a:solidFill>
                <a:ea typeface="Calibri" pitchFamily="34" charset="-122"/>
                <a:cs typeface="Calibri" pitchFamily="34" charset="-120"/>
              </a:rPr>
              <a:t>Approach for Implementation</a:t>
            </a:r>
            <a:endParaRPr lang="en-US" sz="1200" b="1" dirty="0"/>
          </a:p>
        </p:txBody>
      </p:sp>
      <p:sp>
        <p:nvSpPr>
          <p:cNvPr id="52" name="Text 4">
            <a:extLst>
              <a:ext uri="{FF2B5EF4-FFF2-40B4-BE49-F238E27FC236}">
                <a16:creationId xmlns:a16="http://schemas.microsoft.com/office/drawing/2014/main" id="{4A92243A-213C-1567-C772-95BAD2901914}"/>
              </a:ext>
            </a:extLst>
          </p:cNvPr>
          <p:cNvSpPr/>
          <p:nvPr/>
        </p:nvSpPr>
        <p:spPr>
          <a:xfrm>
            <a:off x="427482" y="3797740"/>
            <a:ext cx="5120640" cy="141732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200" dirty="0"/>
              <a:t>Consultation with the departments to obtain priority use cases to be implemented through platform and assess AI readiness</a:t>
            </a:r>
          </a:p>
          <a:p>
            <a:pPr marL="171450" indent="-171450">
              <a:buFont typeface="Arial" panose="020B0604020202020204" pitchFamily="34" charset="0"/>
              <a:buChar char="•"/>
            </a:pPr>
            <a:r>
              <a:rPr lang="en-US" sz="1200" dirty="0"/>
              <a:t>Industry consultation for comparing architecture components-cost for the same - Consultation with Players like IBM, Salesforce, AWS, Google, Microsoft, Teradata, Oracle, Sarvam, </a:t>
            </a:r>
            <a:r>
              <a:rPr lang="en-US" sz="1200" dirty="0" err="1"/>
              <a:t>BharatGen</a:t>
            </a:r>
            <a:r>
              <a:rPr lang="en-US" sz="1200" dirty="0"/>
              <a:t> etc.</a:t>
            </a:r>
          </a:p>
          <a:p>
            <a:pPr marL="171450" indent="-171450">
              <a:buFont typeface="Arial" panose="020B0604020202020204" pitchFamily="34" charset="0"/>
              <a:buChar char="•"/>
            </a:pPr>
            <a:r>
              <a:rPr lang="en-IN" sz="1200" dirty="0"/>
              <a:t>Prepare proposal along with architecture diagram such that it has feasible components and minimum vendor lock-in capabilities</a:t>
            </a:r>
          </a:p>
          <a:p>
            <a:pPr marL="171450" indent="-171450">
              <a:buFont typeface="Arial" panose="020B0604020202020204" pitchFamily="34" charset="0"/>
              <a:buChar char="•"/>
            </a:pPr>
            <a:r>
              <a:rPr lang="en-IN" sz="1200" dirty="0"/>
              <a:t>Prepare RFP and perform bid process management</a:t>
            </a:r>
          </a:p>
          <a:p>
            <a:pPr marL="171450" indent="-171450">
              <a:buFont typeface="Arial" panose="020B0604020202020204" pitchFamily="34" charset="0"/>
              <a:buChar char="•"/>
            </a:pPr>
            <a:r>
              <a:rPr lang="en-IN" sz="1200" dirty="0"/>
              <a:t>Vendor onboarding</a:t>
            </a:r>
          </a:p>
          <a:p>
            <a:pPr marL="171450" indent="-171450">
              <a:buFont typeface="Arial" panose="020B0604020202020204" pitchFamily="34" charset="0"/>
              <a:buChar char="•"/>
            </a:pPr>
            <a:r>
              <a:rPr lang="en-IN" sz="1200" dirty="0"/>
              <a:t>Training of departments on the platform and support to vendor for implementation</a:t>
            </a:r>
          </a:p>
        </p:txBody>
      </p:sp>
      <p:grpSp>
        <p:nvGrpSpPr>
          <p:cNvPr id="53" name="Group 52">
            <a:extLst>
              <a:ext uri="{FF2B5EF4-FFF2-40B4-BE49-F238E27FC236}">
                <a16:creationId xmlns:a16="http://schemas.microsoft.com/office/drawing/2014/main" id="{C45B069C-AA13-2367-AA36-BDB8CAA53945}"/>
              </a:ext>
            </a:extLst>
          </p:cNvPr>
          <p:cNvGrpSpPr/>
          <p:nvPr/>
        </p:nvGrpSpPr>
        <p:grpSpPr>
          <a:xfrm>
            <a:off x="5897881" y="4012430"/>
            <a:ext cx="5669279" cy="1850230"/>
            <a:chOff x="976804" y="1909159"/>
            <a:chExt cx="4732332" cy="2124673"/>
          </a:xfrm>
        </p:grpSpPr>
        <p:sp>
          <p:nvSpPr>
            <p:cNvPr id="81" name="Pentagon 10">
              <a:extLst>
                <a:ext uri="{FF2B5EF4-FFF2-40B4-BE49-F238E27FC236}">
                  <a16:creationId xmlns:a16="http://schemas.microsoft.com/office/drawing/2014/main" id="{1E43F788-6C8E-98E1-C4D7-F571222CE4FD}"/>
                </a:ext>
              </a:extLst>
            </p:cNvPr>
            <p:cNvSpPr/>
            <p:nvPr/>
          </p:nvSpPr>
          <p:spPr>
            <a:xfrm>
              <a:off x="1517208" y="2993796"/>
              <a:ext cx="4191928" cy="487810"/>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r>
                <a:rPr lang="en-US" sz="1050" dirty="0">
                  <a:solidFill>
                    <a:schemeClr val="tx1"/>
                  </a:solidFill>
                </a:rPr>
                <a:t>What is the budget kept for this in case this approach needs to be adopted? What is the implementation timeline provided for this? Can closed source LLMs be supported or only Open Source/Open-Weight LLMs?</a:t>
              </a:r>
            </a:p>
          </p:txBody>
        </p:sp>
        <p:sp>
          <p:nvSpPr>
            <p:cNvPr id="82" name="Pentagon 9">
              <a:extLst>
                <a:ext uri="{FF2B5EF4-FFF2-40B4-BE49-F238E27FC236}">
                  <a16:creationId xmlns:a16="http://schemas.microsoft.com/office/drawing/2014/main" id="{9FF897E6-E211-E593-4D41-34224972BA2A}"/>
                </a:ext>
              </a:extLst>
            </p:cNvPr>
            <p:cNvSpPr/>
            <p:nvPr/>
          </p:nvSpPr>
          <p:spPr>
            <a:xfrm>
              <a:off x="1517208" y="1909159"/>
              <a:ext cx="4191928" cy="487810"/>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r>
                <a:rPr lang="en-US" sz="1050" dirty="0">
                  <a:solidFill>
                    <a:schemeClr val="tx1"/>
                  </a:solidFill>
                </a:rPr>
                <a:t>Is the SI expected to provide the Platform and implement the AI use cases or just implement the Platform and AI use cases to be implemented by the departments?</a:t>
              </a:r>
            </a:p>
          </p:txBody>
        </p:sp>
        <p:sp>
          <p:nvSpPr>
            <p:cNvPr id="83" name="Pentagon 11">
              <a:extLst>
                <a:ext uri="{FF2B5EF4-FFF2-40B4-BE49-F238E27FC236}">
                  <a16:creationId xmlns:a16="http://schemas.microsoft.com/office/drawing/2014/main" id="{0D62C031-EDA2-374F-7CA4-50E427B23520}"/>
                </a:ext>
              </a:extLst>
            </p:cNvPr>
            <p:cNvSpPr/>
            <p:nvPr/>
          </p:nvSpPr>
          <p:spPr>
            <a:xfrm>
              <a:off x="1517208" y="2461381"/>
              <a:ext cx="4191928" cy="487549"/>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r>
                <a:rPr lang="en-US" sz="1050" dirty="0">
                  <a:solidFill>
                    <a:schemeClr val="tx1"/>
                  </a:solidFill>
                </a:rPr>
                <a:t>Is it expected that the SI to provide GPU as a Service as part of the proposal itself?   </a:t>
              </a:r>
            </a:p>
          </p:txBody>
        </p:sp>
        <p:sp>
          <p:nvSpPr>
            <p:cNvPr id="84" name="Pentagon 12">
              <a:extLst>
                <a:ext uri="{FF2B5EF4-FFF2-40B4-BE49-F238E27FC236}">
                  <a16:creationId xmlns:a16="http://schemas.microsoft.com/office/drawing/2014/main" id="{3ACF670F-3C0A-8296-8189-66CEE2969232}"/>
                </a:ext>
              </a:extLst>
            </p:cNvPr>
            <p:cNvSpPr/>
            <p:nvPr/>
          </p:nvSpPr>
          <p:spPr>
            <a:xfrm>
              <a:off x="1517208" y="3546022"/>
              <a:ext cx="4191928" cy="487810"/>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r>
                <a:rPr lang="en-US" sz="1050" dirty="0">
                  <a:solidFill>
                    <a:schemeClr val="tx1"/>
                  </a:solidFill>
                </a:rPr>
                <a:t>Is there a requirement that entire technology stack be Open Source? Is there an expectation that Vision LLMs be also made available as part of Platform?</a:t>
              </a:r>
            </a:p>
          </p:txBody>
        </p:sp>
        <p:sp>
          <p:nvSpPr>
            <p:cNvPr id="89" name="Pentagon 23">
              <a:extLst>
                <a:ext uri="{FF2B5EF4-FFF2-40B4-BE49-F238E27FC236}">
                  <a16:creationId xmlns:a16="http://schemas.microsoft.com/office/drawing/2014/main" id="{5F63253C-B9C9-2989-C759-EE02B370B556}"/>
                </a:ext>
              </a:extLst>
            </p:cNvPr>
            <p:cNvSpPr/>
            <p:nvPr/>
          </p:nvSpPr>
          <p:spPr>
            <a:xfrm rot="16200000" flipH="1">
              <a:off x="119672" y="2766295"/>
              <a:ext cx="2092194" cy="377930"/>
            </a:xfrm>
            <a:prstGeom prst="homePlate">
              <a:avLst>
                <a:gd name="adj" fmla="val 25643"/>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Key Decision Points</a:t>
              </a:r>
            </a:p>
          </p:txBody>
        </p:sp>
      </p:grpSp>
    </p:spTree>
    <p:extLst>
      <p:ext uri="{BB962C8B-B14F-4D97-AF65-F5344CB8AC3E}">
        <p14:creationId xmlns:p14="http://schemas.microsoft.com/office/powerpoint/2010/main" val="3070320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otalTime>0</TotalTime>
  <Words>530</Words>
  <Application>Microsoft Office PowerPoint</Application>
  <PresentationFormat>Widescreen</PresentationFormat>
  <Paragraphs>60</Paragraphs>
  <Slides>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Aptos</vt:lpstr>
      <vt:lpstr>Aptos Display</vt:lpstr>
      <vt:lpstr>Arial</vt:lpstr>
      <vt:lpstr>Calibri</vt:lpstr>
      <vt:lpstr>Cambria</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Garg, Vibha</dc:creator>
  <cp:lastModifiedBy>Garg, Vibha</cp:lastModifiedBy>
  <cp:revision>1</cp:revision>
  <dcterms:created xsi:type="dcterms:W3CDTF">2026-07-20T08:16:44Z</dcterms:created>
  <dcterms:modified xsi:type="dcterms:W3CDTF">2026-07-20T08:17:35Z</dcterms:modified>
</cp:coreProperties>
</file>