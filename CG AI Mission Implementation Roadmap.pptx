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9" r:id="rId2"/>
    <p:sldId id="328" r:id="rId3"/>
    <p:sldId id="257" r:id="rId4"/>
    <p:sldId id="258" r:id="rId5"/>
    <p:sldId id="259" r:id="rId6"/>
    <p:sldId id="260" r:id="rId7"/>
    <p:sldId id="274" r:id="rId8"/>
    <p:sldId id="317" r:id="rId9"/>
    <p:sldId id="318" r:id="rId10"/>
    <p:sldId id="273" r:id="rId11"/>
    <p:sldId id="319" r:id="rId12"/>
    <p:sldId id="320" r:id="rId13"/>
    <p:sldId id="321" r:id="rId14"/>
    <p:sldId id="282" r:id="rId15"/>
    <p:sldId id="322" r:id="rId16"/>
    <p:sldId id="323" r:id="rId17"/>
    <p:sldId id="295" r:id="rId18"/>
    <p:sldId id="324" r:id="rId19"/>
    <p:sldId id="306" r:id="rId20"/>
    <p:sldId id="326" r:id="rId21"/>
    <p:sldId id="32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F1379F-4FE0-494C-B2B7-ED79AB607E5A}" v="542" dt="2026-06-30T12:14:16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3DA77-1A0B-4CC2-BF2E-78F5402EC2E7}" type="doc">
      <dgm:prSet loTypeId="urn:microsoft.com/office/officeart/2005/8/layout/process3" loCatId="process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CFD9C633-7FEB-4367-A89F-E921DE4144BC}">
      <dgm:prSet phldrT="[Text]" custT="1"/>
      <dgm:spPr/>
      <dgm:t>
        <a:bodyPr/>
        <a:lstStyle/>
        <a:p>
          <a:r>
            <a:rPr lang="en-US" sz="1400"/>
            <a:t>Phase I (Months 1–3)</a:t>
          </a:r>
          <a:endParaRPr lang="en-IN" sz="1400"/>
        </a:p>
      </dgm:t>
    </dgm:pt>
    <dgm:pt modelId="{A913DC6D-C01F-4E51-ABF9-617024911B69}" type="parTrans" cxnId="{47A9C38B-5754-4A1B-A013-994589231F4F}">
      <dgm:prSet/>
      <dgm:spPr/>
      <dgm:t>
        <a:bodyPr/>
        <a:lstStyle/>
        <a:p>
          <a:endParaRPr lang="en-IN"/>
        </a:p>
      </dgm:t>
    </dgm:pt>
    <dgm:pt modelId="{696728DB-8401-41D0-ABA2-D9A8CD26BFAC}" type="sibTrans" cxnId="{47A9C38B-5754-4A1B-A013-994589231F4F}">
      <dgm:prSet/>
      <dgm:spPr/>
      <dgm:t>
        <a:bodyPr/>
        <a:lstStyle/>
        <a:p>
          <a:endParaRPr lang="en-IN"/>
        </a:p>
      </dgm:t>
    </dgm:pt>
    <dgm:pt modelId="{FB73B954-8CB6-45DA-AD8A-DF69A9D17D22}">
      <dgm:prSet phldrT="[Text]" custT="1"/>
      <dgm:spPr/>
      <dgm:t>
        <a:bodyPr/>
        <a:lstStyle/>
        <a:p>
          <a:r>
            <a:rPr lang="en-US" sz="1400"/>
            <a:t>Phase II (Months 4–6)</a:t>
          </a:r>
          <a:endParaRPr lang="en-IN" sz="1400"/>
        </a:p>
      </dgm:t>
    </dgm:pt>
    <dgm:pt modelId="{49F8FC0D-11B1-4411-A6AE-3802E6D4B8A7}" type="parTrans" cxnId="{B721B8C3-7797-471B-B816-BBE502A2F297}">
      <dgm:prSet/>
      <dgm:spPr/>
      <dgm:t>
        <a:bodyPr/>
        <a:lstStyle/>
        <a:p>
          <a:endParaRPr lang="en-IN"/>
        </a:p>
      </dgm:t>
    </dgm:pt>
    <dgm:pt modelId="{3CE20959-3587-4731-BBF6-D0892B6AF251}" type="sibTrans" cxnId="{B721B8C3-7797-471B-B816-BBE502A2F297}">
      <dgm:prSet/>
      <dgm:spPr/>
      <dgm:t>
        <a:bodyPr/>
        <a:lstStyle/>
        <a:p>
          <a:endParaRPr lang="en-IN"/>
        </a:p>
      </dgm:t>
    </dgm:pt>
    <dgm:pt modelId="{15CBAAEC-2EB0-4C5D-8A03-373ED3603E52}">
      <dgm:prSet phldrT="[Text]" custT="1"/>
      <dgm:spPr/>
      <dgm:t>
        <a:bodyPr/>
        <a:lstStyle/>
        <a:p>
          <a:r>
            <a:rPr lang="en-US" sz="1400"/>
            <a:t>Phase III (Months 7–9):</a:t>
          </a:r>
          <a:endParaRPr lang="en-IN" sz="1400"/>
        </a:p>
      </dgm:t>
    </dgm:pt>
    <dgm:pt modelId="{7A6C6FDD-9F73-49AE-8E8F-96FBDD80DA41}" type="parTrans" cxnId="{A127F7F1-C224-4CC7-99D2-B3DBECC64BB8}">
      <dgm:prSet/>
      <dgm:spPr/>
      <dgm:t>
        <a:bodyPr/>
        <a:lstStyle/>
        <a:p>
          <a:endParaRPr lang="en-IN"/>
        </a:p>
      </dgm:t>
    </dgm:pt>
    <dgm:pt modelId="{6B1A1592-66CD-4464-B152-464C4F535404}" type="sibTrans" cxnId="{A127F7F1-C224-4CC7-99D2-B3DBECC64BB8}">
      <dgm:prSet/>
      <dgm:spPr/>
      <dgm:t>
        <a:bodyPr/>
        <a:lstStyle/>
        <a:p>
          <a:endParaRPr lang="en-IN"/>
        </a:p>
      </dgm:t>
    </dgm:pt>
    <dgm:pt modelId="{B62CC527-9777-4BF8-9114-82D08AF6DB05}">
      <dgm:prSet phldrT="[Text]" phldr="0" custT="1"/>
      <dgm:spPr/>
      <dgm:t>
        <a:bodyPr/>
        <a:lstStyle/>
        <a:p>
          <a:r>
            <a:rPr lang="en-US" sz="1400"/>
            <a:t>Phase IV (Months 10–12</a:t>
          </a:r>
          <a:endParaRPr lang="en-IN" sz="1400"/>
        </a:p>
      </dgm:t>
    </dgm:pt>
    <dgm:pt modelId="{93CDF8A1-B92F-4E02-B01A-FDE46994C82D}" type="parTrans" cxnId="{38588AE5-7123-4DE0-99EE-0562FC8BE1D4}">
      <dgm:prSet/>
      <dgm:spPr/>
      <dgm:t>
        <a:bodyPr/>
        <a:lstStyle/>
        <a:p>
          <a:endParaRPr lang="en-IN"/>
        </a:p>
      </dgm:t>
    </dgm:pt>
    <dgm:pt modelId="{376353A9-10CD-4DDE-ACA4-407DC83615CF}" type="sibTrans" cxnId="{38588AE5-7123-4DE0-99EE-0562FC8BE1D4}">
      <dgm:prSet/>
      <dgm:spPr/>
      <dgm:t>
        <a:bodyPr/>
        <a:lstStyle/>
        <a:p>
          <a:endParaRPr lang="en-IN"/>
        </a:p>
      </dgm:t>
    </dgm:pt>
    <dgm:pt modelId="{C0CF6FC5-A8B5-4A2B-B891-720F6C1F8E5E}">
      <dgm:prSet phldrT="[Text]" custT="1"/>
      <dgm:spPr/>
      <dgm:t>
        <a:bodyPr/>
        <a:lstStyle/>
        <a:p>
          <a:pPr algn="ctr">
            <a:buNone/>
          </a:pPr>
          <a:r>
            <a:rPr lang="en-US" sz="1400"/>
            <a:t>Mobilization &amp; Use Case Discovery</a:t>
          </a:r>
          <a:endParaRPr lang="en-IN" sz="1400"/>
        </a:p>
      </dgm:t>
    </dgm:pt>
    <dgm:pt modelId="{3845CA19-3F32-4398-B921-C0CDA9813957}" type="parTrans" cxnId="{AF7713EB-7FF6-4BD7-B7CF-DD12257B502C}">
      <dgm:prSet/>
      <dgm:spPr/>
      <dgm:t>
        <a:bodyPr/>
        <a:lstStyle/>
        <a:p>
          <a:endParaRPr lang="en-IN"/>
        </a:p>
      </dgm:t>
    </dgm:pt>
    <dgm:pt modelId="{DC90E41D-9F11-4154-A39E-888452AC5325}" type="sibTrans" cxnId="{AF7713EB-7FF6-4BD7-B7CF-DD12257B502C}">
      <dgm:prSet/>
      <dgm:spPr/>
      <dgm:t>
        <a:bodyPr/>
        <a:lstStyle/>
        <a:p>
          <a:endParaRPr lang="en-IN"/>
        </a:p>
      </dgm:t>
    </dgm:pt>
    <dgm:pt modelId="{090E36D7-94B8-41F8-AAE4-47CE46C743D3}">
      <dgm:prSet phldrT="[Text]" custT="1"/>
      <dgm:spPr/>
      <dgm:t>
        <a:bodyPr/>
        <a:lstStyle/>
        <a:p>
          <a:pPr algn="ctr">
            <a:buNone/>
          </a:pPr>
          <a:r>
            <a:rPr lang="en-US" sz="1400"/>
            <a:t>Pilot Design &amp; Ecosystem Activation</a:t>
          </a:r>
          <a:endParaRPr lang="en-IN" sz="1400"/>
        </a:p>
      </dgm:t>
    </dgm:pt>
    <dgm:pt modelId="{006D312F-F623-485F-80D6-3C51D4B6EE5C}" type="parTrans" cxnId="{4907AFB0-F6FA-4E25-8565-55FF0D5FD0AD}">
      <dgm:prSet/>
      <dgm:spPr/>
      <dgm:t>
        <a:bodyPr/>
        <a:lstStyle/>
        <a:p>
          <a:endParaRPr lang="en-IN"/>
        </a:p>
      </dgm:t>
    </dgm:pt>
    <dgm:pt modelId="{1D4E313C-175F-4EA9-A291-4096DD183FA2}" type="sibTrans" cxnId="{4907AFB0-F6FA-4E25-8565-55FF0D5FD0AD}">
      <dgm:prSet/>
      <dgm:spPr/>
      <dgm:t>
        <a:bodyPr/>
        <a:lstStyle/>
        <a:p>
          <a:endParaRPr lang="en-IN"/>
        </a:p>
      </dgm:t>
    </dgm:pt>
    <dgm:pt modelId="{9C9CCCE6-8316-41D7-80D8-209C5E9565DF}">
      <dgm:prSet phldrT="[Text]" custT="1"/>
      <dgm:spPr/>
      <dgm:t>
        <a:bodyPr/>
        <a:lstStyle/>
        <a:p>
          <a:pPr algn="ctr">
            <a:buNone/>
          </a:pPr>
          <a:r>
            <a:rPr lang="en-US" sz="1400"/>
            <a:t>Pilot Implementation</a:t>
          </a:r>
          <a:endParaRPr lang="en-IN" sz="1400"/>
        </a:p>
      </dgm:t>
    </dgm:pt>
    <dgm:pt modelId="{4C9E86FD-73DD-48AC-8D86-864B16BAA09C}" type="parTrans" cxnId="{DBC7AA01-19CA-460A-BAB7-93D6E4E1798E}">
      <dgm:prSet/>
      <dgm:spPr/>
      <dgm:t>
        <a:bodyPr/>
        <a:lstStyle/>
        <a:p>
          <a:endParaRPr lang="en-IN"/>
        </a:p>
      </dgm:t>
    </dgm:pt>
    <dgm:pt modelId="{F92A2733-98E1-4A63-8599-BE19DB2B3AD8}" type="sibTrans" cxnId="{DBC7AA01-19CA-460A-BAB7-93D6E4E1798E}">
      <dgm:prSet/>
      <dgm:spPr/>
      <dgm:t>
        <a:bodyPr/>
        <a:lstStyle/>
        <a:p>
          <a:endParaRPr lang="en-IN"/>
        </a:p>
      </dgm:t>
    </dgm:pt>
    <dgm:pt modelId="{47516E5C-B3C0-4A90-834F-388EAAD5B181}">
      <dgm:prSet phldrT="[Text]" phldr="0" custT="1"/>
      <dgm:spPr/>
      <dgm:t>
        <a:bodyPr/>
        <a:lstStyle/>
        <a:p>
          <a:pPr algn="ctr">
            <a:buNone/>
          </a:pPr>
          <a:r>
            <a:rPr lang="en-US" sz="1400"/>
            <a:t>Scale-up &amp; Sustainability</a:t>
          </a:r>
          <a:endParaRPr lang="en-IN" sz="1400"/>
        </a:p>
      </dgm:t>
    </dgm:pt>
    <dgm:pt modelId="{29986260-2407-4688-9DDA-5CE62E14F9B0}" type="parTrans" cxnId="{E8BBB4C3-3E76-41E5-B548-BABDCBBEBC0A}">
      <dgm:prSet/>
      <dgm:spPr/>
      <dgm:t>
        <a:bodyPr/>
        <a:lstStyle/>
        <a:p>
          <a:endParaRPr lang="en-IN"/>
        </a:p>
      </dgm:t>
    </dgm:pt>
    <dgm:pt modelId="{9C593DA7-734D-49BE-9CBA-268AA231CEBB}" type="sibTrans" cxnId="{E8BBB4C3-3E76-41E5-B548-BABDCBBEBC0A}">
      <dgm:prSet/>
      <dgm:spPr/>
      <dgm:t>
        <a:bodyPr/>
        <a:lstStyle/>
        <a:p>
          <a:endParaRPr lang="en-IN"/>
        </a:p>
      </dgm:t>
    </dgm:pt>
    <dgm:pt modelId="{BF47BE82-0EA1-4BD0-B5A7-898E925247E8}" type="pres">
      <dgm:prSet presAssocID="{4A63DA77-1A0B-4CC2-BF2E-78F5402EC2E7}" presName="linearFlow" presStyleCnt="0">
        <dgm:presLayoutVars>
          <dgm:dir/>
          <dgm:animLvl val="lvl"/>
          <dgm:resizeHandles val="exact"/>
        </dgm:presLayoutVars>
      </dgm:prSet>
      <dgm:spPr/>
    </dgm:pt>
    <dgm:pt modelId="{7599FB23-4C78-4EFF-B9B9-6B4AF0D54514}" type="pres">
      <dgm:prSet presAssocID="{CFD9C633-7FEB-4367-A89F-E921DE4144BC}" presName="composite" presStyleCnt="0"/>
      <dgm:spPr/>
    </dgm:pt>
    <dgm:pt modelId="{6E88CA5B-0BAE-4465-9532-7ABE06B5291B}" type="pres">
      <dgm:prSet presAssocID="{CFD9C633-7FEB-4367-A89F-E921DE4144BC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BBABA3-CAED-4869-8861-5630A1EEFE4C}" type="pres">
      <dgm:prSet presAssocID="{CFD9C633-7FEB-4367-A89F-E921DE4144BC}" presName="parSh" presStyleLbl="node1" presStyleIdx="0" presStyleCnt="4"/>
      <dgm:spPr/>
    </dgm:pt>
    <dgm:pt modelId="{6D2A882C-203B-4540-A4F8-54B937B5AB39}" type="pres">
      <dgm:prSet presAssocID="{CFD9C633-7FEB-4367-A89F-E921DE4144BC}" presName="desTx" presStyleLbl="fgAcc1" presStyleIdx="0" presStyleCnt="4">
        <dgm:presLayoutVars>
          <dgm:bulletEnabled val="1"/>
        </dgm:presLayoutVars>
      </dgm:prSet>
      <dgm:spPr/>
    </dgm:pt>
    <dgm:pt modelId="{FA41E267-2759-44CE-A1EE-4E699F370E00}" type="pres">
      <dgm:prSet presAssocID="{696728DB-8401-41D0-ABA2-D9A8CD26BFAC}" presName="sibTrans" presStyleLbl="sibTrans2D1" presStyleIdx="0" presStyleCnt="3"/>
      <dgm:spPr/>
    </dgm:pt>
    <dgm:pt modelId="{9D125DC0-7A0B-4087-957E-5867B8C6E21B}" type="pres">
      <dgm:prSet presAssocID="{696728DB-8401-41D0-ABA2-D9A8CD26BFAC}" presName="connTx" presStyleLbl="sibTrans2D1" presStyleIdx="0" presStyleCnt="3"/>
      <dgm:spPr/>
    </dgm:pt>
    <dgm:pt modelId="{69845623-0C3A-42EE-98CB-75218A783545}" type="pres">
      <dgm:prSet presAssocID="{FB73B954-8CB6-45DA-AD8A-DF69A9D17D22}" presName="composite" presStyleCnt="0"/>
      <dgm:spPr/>
    </dgm:pt>
    <dgm:pt modelId="{DBF63463-EDB9-4F8C-9C49-72F5C05B3DE0}" type="pres">
      <dgm:prSet presAssocID="{FB73B954-8CB6-45DA-AD8A-DF69A9D17D2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A86941D-0E31-46D2-8271-2C82EFC64C2D}" type="pres">
      <dgm:prSet presAssocID="{FB73B954-8CB6-45DA-AD8A-DF69A9D17D22}" presName="parSh" presStyleLbl="node1" presStyleIdx="1" presStyleCnt="4"/>
      <dgm:spPr/>
    </dgm:pt>
    <dgm:pt modelId="{345F214C-680C-4C34-AE27-9A2AAD44BDF1}" type="pres">
      <dgm:prSet presAssocID="{FB73B954-8CB6-45DA-AD8A-DF69A9D17D22}" presName="desTx" presStyleLbl="fgAcc1" presStyleIdx="1" presStyleCnt="4">
        <dgm:presLayoutVars>
          <dgm:bulletEnabled val="1"/>
        </dgm:presLayoutVars>
      </dgm:prSet>
      <dgm:spPr/>
    </dgm:pt>
    <dgm:pt modelId="{8D2480B4-CB3A-4A60-AA21-B16B08F9CF2D}" type="pres">
      <dgm:prSet presAssocID="{3CE20959-3587-4731-BBF6-D0892B6AF251}" presName="sibTrans" presStyleLbl="sibTrans2D1" presStyleIdx="1" presStyleCnt="3"/>
      <dgm:spPr/>
    </dgm:pt>
    <dgm:pt modelId="{9AC0A1E8-B172-4BEE-AE38-1113CCC7FC10}" type="pres">
      <dgm:prSet presAssocID="{3CE20959-3587-4731-BBF6-D0892B6AF251}" presName="connTx" presStyleLbl="sibTrans2D1" presStyleIdx="1" presStyleCnt="3"/>
      <dgm:spPr/>
    </dgm:pt>
    <dgm:pt modelId="{269CC6B6-84EA-4963-9060-1BE181BF9B06}" type="pres">
      <dgm:prSet presAssocID="{15CBAAEC-2EB0-4C5D-8A03-373ED3603E52}" presName="composite" presStyleCnt="0"/>
      <dgm:spPr/>
    </dgm:pt>
    <dgm:pt modelId="{EF05496C-AFCA-4186-BD26-31C58C800203}" type="pres">
      <dgm:prSet presAssocID="{15CBAAEC-2EB0-4C5D-8A03-373ED3603E52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3AD8E26-487E-41FF-93DF-88F8CE58CCC0}" type="pres">
      <dgm:prSet presAssocID="{15CBAAEC-2EB0-4C5D-8A03-373ED3603E52}" presName="parSh" presStyleLbl="node1" presStyleIdx="2" presStyleCnt="4"/>
      <dgm:spPr/>
    </dgm:pt>
    <dgm:pt modelId="{EED5FEE1-EB13-42DE-8AFB-ED6E479E794D}" type="pres">
      <dgm:prSet presAssocID="{15CBAAEC-2EB0-4C5D-8A03-373ED3603E52}" presName="desTx" presStyleLbl="fgAcc1" presStyleIdx="2" presStyleCnt="4">
        <dgm:presLayoutVars>
          <dgm:bulletEnabled val="1"/>
        </dgm:presLayoutVars>
      </dgm:prSet>
      <dgm:spPr/>
    </dgm:pt>
    <dgm:pt modelId="{906F1D52-162C-4F12-96BD-4801EABA9851}" type="pres">
      <dgm:prSet presAssocID="{6B1A1592-66CD-4464-B152-464C4F535404}" presName="sibTrans" presStyleLbl="sibTrans2D1" presStyleIdx="2" presStyleCnt="3"/>
      <dgm:spPr/>
    </dgm:pt>
    <dgm:pt modelId="{1A0FEDDB-8BA9-447B-B8D0-9E9DAFD6B583}" type="pres">
      <dgm:prSet presAssocID="{6B1A1592-66CD-4464-B152-464C4F535404}" presName="connTx" presStyleLbl="sibTrans2D1" presStyleIdx="2" presStyleCnt="3"/>
      <dgm:spPr/>
    </dgm:pt>
    <dgm:pt modelId="{5E04E88C-7C66-41BA-B813-10FB0A12CEB2}" type="pres">
      <dgm:prSet presAssocID="{B62CC527-9777-4BF8-9114-82D08AF6DB05}" presName="composite" presStyleCnt="0"/>
      <dgm:spPr/>
    </dgm:pt>
    <dgm:pt modelId="{DF2E71D9-4AC4-467C-9AA8-D39D829EB692}" type="pres">
      <dgm:prSet presAssocID="{B62CC527-9777-4BF8-9114-82D08AF6DB05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E5D4EC3-8D7C-4B79-911A-16C6EE3DD73E}" type="pres">
      <dgm:prSet presAssocID="{B62CC527-9777-4BF8-9114-82D08AF6DB05}" presName="parSh" presStyleLbl="node1" presStyleIdx="3" presStyleCnt="4"/>
      <dgm:spPr/>
    </dgm:pt>
    <dgm:pt modelId="{56D7B4E9-BF34-4237-B9C1-CCF607F91726}" type="pres">
      <dgm:prSet presAssocID="{B62CC527-9777-4BF8-9114-82D08AF6DB05}" presName="desTx" presStyleLbl="fgAcc1" presStyleIdx="3" presStyleCnt="4">
        <dgm:presLayoutVars>
          <dgm:bulletEnabled val="1"/>
        </dgm:presLayoutVars>
      </dgm:prSet>
      <dgm:spPr/>
    </dgm:pt>
  </dgm:ptLst>
  <dgm:cxnLst>
    <dgm:cxn modelId="{DBC7AA01-19CA-460A-BAB7-93D6E4E1798E}" srcId="{15CBAAEC-2EB0-4C5D-8A03-373ED3603E52}" destId="{9C9CCCE6-8316-41D7-80D8-209C5E9565DF}" srcOrd="0" destOrd="0" parTransId="{4C9E86FD-73DD-48AC-8D86-864B16BAA09C}" sibTransId="{F92A2733-98E1-4A63-8599-BE19DB2B3AD8}"/>
    <dgm:cxn modelId="{058D6D02-D78E-4053-A2FA-CBF483BB86CB}" type="presOf" srcId="{B62CC527-9777-4BF8-9114-82D08AF6DB05}" destId="{CE5D4EC3-8D7C-4B79-911A-16C6EE3DD73E}" srcOrd="1" destOrd="0" presId="urn:microsoft.com/office/officeart/2005/8/layout/process3"/>
    <dgm:cxn modelId="{10524C03-05FF-4D78-8168-94A7DDBBB9EA}" type="presOf" srcId="{CFD9C633-7FEB-4367-A89F-E921DE4144BC}" destId="{15BBABA3-CAED-4869-8861-5630A1EEFE4C}" srcOrd="1" destOrd="0" presId="urn:microsoft.com/office/officeart/2005/8/layout/process3"/>
    <dgm:cxn modelId="{6550A305-E225-448F-91FD-5D39D8D11458}" type="presOf" srcId="{C0CF6FC5-A8B5-4A2B-B891-720F6C1F8E5E}" destId="{6D2A882C-203B-4540-A4F8-54B937B5AB39}" srcOrd="0" destOrd="0" presId="urn:microsoft.com/office/officeart/2005/8/layout/process3"/>
    <dgm:cxn modelId="{2F559E0F-FBBA-4BF7-9C3B-1C8B476B0969}" type="presOf" srcId="{CFD9C633-7FEB-4367-A89F-E921DE4144BC}" destId="{6E88CA5B-0BAE-4465-9532-7ABE06B5291B}" srcOrd="0" destOrd="0" presId="urn:microsoft.com/office/officeart/2005/8/layout/process3"/>
    <dgm:cxn modelId="{6D48363C-FA83-4DBE-8F58-147803EE5050}" type="presOf" srcId="{6B1A1592-66CD-4464-B152-464C4F535404}" destId="{1A0FEDDB-8BA9-447B-B8D0-9E9DAFD6B583}" srcOrd="1" destOrd="0" presId="urn:microsoft.com/office/officeart/2005/8/layout/process3"/>
    <dgm:cxn modelId="{6068855C-A391-4237-B2D1-91CD514E9AC7}" type="presOf" srcId="{3CE20959-3587-4731-BBF6-D0892B6AF251}" destId="{8D2480B4-CB3A-4A60-AA21-B16B08F9CF2D}" srcOrd="0" destOrd="0" presId="urn:microsoft.com/office/officeart/2005/8/layout/process3"/>
    <dgm:cxn modelId="{D7CD2765-139C-4346-B1FD-26FC6C5C87D0}" type="presOf" srcId="{3CE20959-3587-4731-BBF6-D0892B6AF251}" destId="{9AC0A1E8-B172-4BEE-AE38-1113CCC7FC10}" srcOrd="1" destOrd="0" presId="urn:microsoft.com/office/officeart/2005/8/layout/process3"/>
    <dgm:cxn modelId="{384F004C-1CA4-4379-8F58-D819D934363F}" type="presOf" srcId="{FB73B954-8CB6-45DA-AD8A-DF69A9D17D22}" destId="{DBF63463-EDB9-4F8C-9C49-72F5C05B3DE0}" srcOrd="0" destOrd="0" presId="urn:microsoft.com/office/officeart/2005/8/layout/process3"/>
    <dgm:cxn modelId="{CAF01273-4A9B-4271-81E0-236088BC6935}" type="presOf" srcId="{4A63DA77-1A0B-4CC2-BF2E-78F5402EC2E7}" destId="{BF47BE82-0EA1-4BD0-B5A7-898E925247E8}" srcOrd="0" destOrd="0" presId="urn:microsoft.com/office/officeart/2005/8/layout/process3"/>
    <dgm:cxn modelId="{371B7254-F160-4E73-BA7A-71765FBB413F}" type="presOf" srcId="{090E36D7-94B8-41F8-AAE4-47CE46C743D3}" destId="{345F214C-680C-4C34-AE27-9A2AAD44BDF1}" srcOrd="0" destOrd="0" presId="urn:microsoft.com/office/officeart/2005/8/layout/process3"/>
    <dgm:cxn modelId="{3B4C2255-0B38-474A-9949-306A9A45BBD7}" type="presOf" srcId="{696728DB-8401-41D0-ABA2-D9A8CD26BFAC}" destId="{FA41E267-2759-44CE-A1EE-4E699F370E00}" srcOrd="0" destOrd="0" presId="urn:microsoft.com/office/officeart/2005/8/layout/process3"/>
    <dgm:cxn modelId="{8AE7AB56-CB65-42D3-87C9-36284217AB8F}" type="presOf" srcId="{6B1A1592-66CD-4464-B152-464C4F535404}" destId="{906F1D52-162C-4F12-96BD-4801EABA9851}" srcOrd="0" destOrd="0" presId="urn:microsoft.com/office/officeart/2005/8/layout/process3"/>
    <dgm:cxn modelId="{77131187-896C-4507-AF94-EEA6C48CD009}" type="presOf" srcId="{696728DB-8401-41D0-ABA2-D9A8CD26BFAC}" destId="{9D125DC0-7A0B-4087-957E-5867B8C6E21B}" srcOrd="1" destOrd="0" presId="urn:microsoft.com/office/officeart/2005/8/layout/process3"/>
    <dgm:cxn modelId="{47A9C38B-5754-4A1B-A013-994589231F4F}" srcId="{4A63DA77-1A0B-4CC2-BF2E-78F5402EC2E7}" destId="{CFD9C633-7FEB-4367-A89F-E921DE4144BC}" srcOrd="0" destOrd="0" parTransId="{A913DC6D-C01F-4E51-ABF9-617024911B69}" sibTransId="{696728DB-8401-41D0-ABA2-D9A8CD26BFAC}"/>
    <dgm:cxn modelId="{19583B8E-D548-4E6B-B0A8-E74B8ECB512B}" type="presOf" srcId="{B62CC527-9777-4BF8-9114-82D08AF6DB05}" destId="{DF2E71D9-4AC4-467C-9AA8-D39D829EB692}" srcOrd="0" destOrd="0" presId="urn:microsoft.com/office/officeart/2005/8/layout/process3"/>
    <dgm:cxn modelId="{355DB093-081D-42D9-8E21-D834DA43A826}" type="presOf" srcId="{15CBAAEC-2EB0-4C5D-8A03-373ED3603E52}" destId="{03AD8E26-487E-41FF-93DF-88F8CE58CCC0}" srcOrd="1" destOrd="0" presId="urn:microsoft.com/office/officeart/2005/8/layout/process3"/>
    <dgm:cxn modelId="{01B408A2-ADC5-49F0-8A44-C31BC91F9777}" type="presOf" srcId="{9C9CCCE6-8316-41D7-80D8-209C5E9565DF}" destId="{EED5FEE1-EB13-42DE-8AFB-ED6E479E794D}" srcOrd="0" destOrd="0" presId="urn:microsoft.com/office/officeart/2005/8/layout/process3"/>
    <dgm:cxn modelId="{954CFBAA-025B-45EA-ABCD-DBDFF539084A}" type="presOf" srcId="{15CBAAEC-2EB0-4C5D-8A03-373ED3603E52}" destId="{EF05496C-AFCA-4186-BD26-31C58C800203}" srcOrd="0" destOrd="0" presId="urn:microsoft.com/office/officeart/2005/8/layout/process3"/>
    <dgm:cxn modelId="{4907AFB0-F6FA-4E25-8565-55FF0D5FD0AD}" srcId="{FB73B954-8CB6-45DA-AD8A-DF69A9D17D22}" destId="{090E36D7-94B8-41F8-AAE4-47CE46C743D3}" srcOrd="0" destOrd="0" parTransId="{006D312F-F623-485F-80D6-3C51D4B6EE5C}" sibTransId="{1D4E313C-175F-4EA9-A291-4096DD183FA2}"/>
    <dgm:cxn modelId="{E8BBB4C3-3E76-41E5-B548-BABDCBBEBC0A}" srcId="{B62CC527-9777-4BF8-9114-82D08AF6DB05}" destId="{47516E5C-B3C0-4A90-834F-388EAAD5B181}" srcOrd="0" destOrd="0" parTransId="{29986260-2407-4688-9DDA-5CE62E14F9B0}" sibTransId="{9C593DA7-734D-49BE-9CBA-268AA231CEBB}"/>
    <dgm:cxn modelId="{B721B8C3-7797-471B-B816-BBE502A2F297}" srcId="{4A63DA77-1A0B-4CC2-BF2E-78F5402EC2E7}" destId="{FB73B954-8CB6-45DA-AD8A-DF69A9D17D22}" srcOrd="1" destOrd="0" parTransId="{49F8FC0D-11B1-4411-A6AE-3802E6D4B8A7}" sibTransId="{3CE20959-3587-4731-BBF6-D0892B6AF251}"/>
    <dgm:cxn modelId="{15C112CE-032A-4D90-B755-6E4F3B964010}" type="presOf" srcId="{47516E5C-B3C0-4A90-834F-388EAAD5B181}" destId="{56D7B4E9-BF34-4237-B9C1-CCF607F91726}" srcOrd="0" destOrd="0" presId="urn:microsoft.com/office/officeart/2005/8/layout/process3"/>
    <dgm:cxn modelId="{38588AE5-7123-4DE0-99EE-0562FC8BE1D4}" srcId="{4A63DA77-1A0B-4CC2-BF2E-78F5402EC2E7}" destId="{B62CC527-9777-4BF8-9114-82D08AF6DB05}" srcOrd="3" destOrd="0" parTransId="{93CDF8A1-B92F-4E02-B01A-FDE46994C82D}" sibTransId="{376353A9-10CD-4DDE-ACA4-407DC83615CF}"/>
    <dgm:cxn modelId="{AF7713EB-7FF6-4BD7-B7CF-DD12257B502C}" srcId="{CFD9C633-7FEB-4367-A89F-E921DE4144BC}" destId="{C0CF6FC5-A8B5-4A2B-B891-720F6C1F8E5E}" srcOrd="0" destOrd="0" parTransId="{3845CA19-3F32-4398-B921-C0CDA9813957}" sibTransId="{DC90E41D-9F11-4154-A39E-888452AC5325}"/>
    <dgm:cxn modelId="{D3EF40EE-6ADA-45F0-BAD0-B2822BEBB0D0}" type="presOf" srcId="{FB73B954-8CB6-45DA-AD8A-DF69A9D17D22}" destId="{3A86941D-0E31-46D2-8271-2C82EFC64C2D}" srcOrd="1" destOrd="0" presId="urn:microsoft.com/office/officeart/2005/8/layout/process3"/>
    <dgm:cxn modelId="{A127F7F1-C224-4CC7-99D2-B3DBECC64BB8}" srcId="{4A63DA77-1A0B-4CC2-BF2E-78F5402EC2E7}" destId="{15CBAAEC-2EB0-4C5D-8A03-373ED3603E52}" srcOrd="2" destOrd="0" parTransId="{7A6C6FDD-9F73-49AE-8E8F-96FBDD80DA41}" sibTransId="{6B1A1592-66CD-4464-B152-464C4F535404}"/>
    <dgm:cxn modelId="{AC418274-8813-405E-A45A-6DB0DBC8D3A9}" type="presParOf" srcId="{BF47BE82-0EA1-4BD0-B5A7-898E925247E8}" destId="{7599FB23-4C78-4EFF-B9B9-6B4AF0D54514}" srcOrd="0" destOrd="0" presId="urn:microsoft.com/office/officeart/2005/8/layout/process3"/>
    <dgm:cxn modelId="{DCE1D485-F74A-40D6-9BBE-A59C4F66C631}" type="presParOf" srcId="{7599FB23-4C78-4EFF-B9B9-6B4AF0D54514}" destId="{6E88CA5B-0BAE-4465-9532-7ABE06B5291B}" srcOrd="0" destOrd="0" presId="urn:microsoft.com/office/officeart/2005/8/layout/process3"/>
    <dgm:cxn modelId="{611C382E-E894-4C22-92FC-4FB54FC492EB}" type="presParOf" srcId="{7599FB23-4C78-4EFF-B9B9-6B4AF0D54514}" destId="{15BBABA3-CAED-4869-8861-5630A1EEFE4C}" srcOrd="1" destOrd="0" presId="urn:microsoft.com/office/officeart/2005/8/layout/process3"/>
    <dgm:cxn modelId="{2A779B97-43FC-4C66-8650-A11FBB82D5E7}" type="presParOf" srcId="{7599FB23-4C78-4EFF-B9B9-6B4AF0D54514}" destId="{6D2A882C-203B-4540-A4F8-54B937B5AB39}" srcOrd="2" destOrd="0" presId="urn:microsoft.com/office/officeart/2005/8/layout/process3"/>
    <dgm:cxn modelId="{02EBF223-7B58-4400-9AD9-EDED391564AE}" type="presParOf" srcId="{BF47BE82-0EA1-4BD0-B5A7-898E925247E8}" destId="{FA41E267-2759-44CE-A1EE-4E699F370E00}" srcOrd="1" destOrd="0" presId="urn:microsoft.com/office/officeart/2005/8/layout/process3"/>
    <dgm:cxn modelId="{4F8AEEB9-01A4-4436-B431-80B26E45B378}" type="presParOf" srcId="{FA41E267-2759-44CE-A1EE-4E699F370E00}" destId="{9D125DC0-7A0B-4087-957E-5867B8C6E21B}" srcOrd="0" destOrd="0" presId="urn:microsoft.com/office/officeart/2005/8/layout/process3"/>
    <dgm:cxn modelId="{A6D1E692-0CF0-48E4-89DA-C0AE6C04F2C3}" type="presParOf" srcId="{BF47BE82-0EA1-4BD0-B5A7-898E925247E8}" destId="{69845623-0C3A-42EE-98CB-75218A783545}" srcOrd="2" destOrd="0" presId="urn:microsoft.com/office/officeart/2005/8/layout/process3"/>
    <dgm:cxn modelId="{DEEEAC93-E4F8-47BF-B51C-5D19407EEEDD}" type="presParOf" srcId="{69845623-0C3A-42EE-98CB-75218A783545}" destId="{DBF63463-EDB9-4F8C-9C49-72F5C05B3DE0}" srcOrd="0" destOrd="0" presId="urn:microsoft.com/office/officeart/2005/8/layout/process3"/>
    <dgm:cxn modelId="{D6AA1771-0FEA-4D33-B8D0-060122A0CD9D}" type="presParOf" srcId="{69845623-0C3A-42EE-98CB-75218A783545}" destId="{3A86941D-0E31-46D2-8271-2C82EFC64C2D}" srcOrd="1" destOrd="0" presId="urn:microsoft.com/office/officeart/2005/8/layout/process3"/>
    <dgm:cxn modelId="{9854C856-F014-4E68-B1B1-C9CE1756EA2A}" type="presParOf" srcId="{69845623-0C3A-42EE-98CB-75218A783545}" destId="{345F214C-680C-4C34-AE27-9A2AAD44BDF1}" srcOrd="2" destOrd="0" presId="urn:microsoft.com/office/officeart/2005/8/layout/process3"/>
    <dgm:cxn modelId="{5669BB9D-F8B4-4781-AE42-5E66EED5ABAF}" type="presParOf" srcId="{BF47BE82-0EA1-4BD0-B5A7-898E925247E8}" destId="{8D2480B4-CB3A-4A60-AA21-B16B08F9CF2D}" srcOrd="3" destOrd="0" presId="urn:microsoft.com/office/officeart/2005/8/layout/process3"/>
    <dgm:cxn modelId="{1AE1DD21-835E-4323-BB25-38E1155E7FDC}" type="presParOf" srcId="{8D2480B4-CB3A-4A60-AA21-B16B08F9CF2D}" destId="{9AC0A1E8-B172-4BEE-AE38-1113CCC7FC10}" srcOrd="0" destOrd="0" presId="urn:microsoft.com/office/officeart/2005/8/layout/process3"/>
    <dgm:cxn modelId="{04B68181-B197-4B7C-8F1F-9FDE7596582B}" type="presParOf" srcId="{BF47BE82-0EA1-4BD0-B5A7-898E925247E8}" destId="{269CC6B6-84EA-4963-9060-1BE181BF9B06}" srcOrd="4" destOrd="0" presId="urn:microsoft.com/office/officeart/2005/8/layout/process3"/>
    <dgm:cxn modelId="{9F07D6DB-C394-4D28-A67F-AC9C669ACCDC}" type="presParOf" srcId="{269CC6B6-84EA-4963-9060-1BE181BF9B06}" destId="{EF05496C-AFCA-4186-BD26-31C58C800203}" srcOrd="0" destOrd="0" presId="urn:microsoft.com/office/officeart/2005/8/layout/process3"/>
    <dgm:cxn modelId="{F98D81D8-C9FF-4CB6-8F78-B2A8EF211E0C}" type="presParOf" srcId="{269CC6B6-84EA-4963-9060-1BE181BF9B06}" destId="{03AD8E26-487E-41FF-93DF-88F8CE58CCC0}" srcOrd="1" destOrd="0" presId="urn:microsoft.com/office/officeart/2005/8/layout/process3"/>
    <dgm:cxn modelId="{811038EE-2325-460C-8CBA-CC21E53F0E70}" type="presParOf" srcId="{269CC6B6-84EA-4963-9060-1BE181BF9B06}" destId="{EED5FEE1-EB13-42DE-8AFB-ED6E479E794D}" srcOrd="2" destOrd="0" presId="urn:microsoft.com/office/officeart/2005/8/layout/process3"/>
    <dgm:cxn modelId="{C4D18864-E17E-463C-9AB6-4CF5130D2BFF}" type="presParOf" srcId="{BF47BE82-0EA1-4BD0-B5A7-898E925247E8}" destId="{906F1D52-162C-4F12-96BD-4801EABA9851}" srcOrd="5" destOrd="0" presId="urn:microsoft.com/office/officeart/2005/8/layout/process3"/>
    <dgm:cxn modelId="{88C22A82-C619-4044-8938-7A5DFDEB02F9}" type="presParOf" srcId="{906F1D52-162C-4F12-96BD-4801EABA9851}" destId="{1A0FEDDB-8BA9-447B-B8D0-9E9DAFD6B583}" srcOrd="0" destOrd="0" presId="urn:microsoft.com/office/officeart/2005/8/layout/process3"/>
    <dgm:cxn modelId="{F1855251-22C2-4FB5-AC50-34BF13266888}" type="presParOf" srcId="{BF47BE82-0EA1-4BD0-B5A7-898E925247E8}" destId="{5E04E88C-7C66-41BA-B813-10FB0A12CEB2}" srcOrd="6" destOrd="0" presId="urn:microsoft.com/office/officeart/2005/8/layout/process3"/>
    <dgm:cxn modelId="{BB5EC0D0-CBA4-479F-9D8E-4D2D52C34152}" type="presParOf" srcId="{5E04E88C-7C66-41BA-B813-10FB0A12CEB2}" destId="{DF2E71D9-4AC4-467C-9AA8-D39D829EB692}" srcOrd="0" destOrd="0" presId="urn:microsoft.com/office/officeart/2005/8/layout/process3"/>
    <dgm:cxn modelId="{42B781FF-5D58-4D2E-A5B5-CBC2822976D1}" type="presParOf" srcId="{5E04E88C-7C66-41BA-B813-10FB0A12CEB2}" destId="{CE5D4EC3-8D7C-4B79-911A-16C6EE3DD73E}" srcOrd="1" destOrd="0" presId="urn:microsoft.com/office/officeart/2005/8/layout/process3"/>
    <dgm:cxn modelId="{6E58E681-AB69-4ED7-8024-65501D1AD897}" type="presParOf" srcId="{5E04E88C-7C66-41BA-B813-10FB0A12CEB2}" destId="{56D7B4E9-BF34-4237-B9C1-CCF607F9172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DC0540-FF40-49E4-8FDB-3E11FF8E1A4A}" type="doc">
      <dgm:prSet loTypeId="urn:microsoft.com/office/officeart/2005/8/layout/default" loCatId="list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289A4BD5-6295-4AB3-AD5F-CE58B9665EC7}">
      <dgm:prSet phldrT="[Text]"/>
      <dgm:spPr/>
      <dgm:t>
        <a:bodyPr/>
        <a:lstStyle/>
        <a:p>
          <a:r>
            <a:rPr lang="en-US"/>
            <a:t>AI Talent and Institutional Capacity</a:t>
          </a:r>
          <a:endParaRPr lang="en-IN"/>
        </a:p>
      </dgm:t>
    </dgm:pt>
    <dgm:pt modelId="{A1F2D2E3-D4C4-4783-8976-005E4DB25236}" type="parTrans" cxnId="{DBBCADC7-C75F-41FE-8689-E351191D6719}">
      <dgm:prSet/>
      <dgm:spPr/>
      <dgm:t>
        <a:bodyPr/>
        <a:lstStyle/>
        <a:p>
          <a:endParaRPr lang="en-IN"/>
        </a:p>
      </dgm:t>
    </dgm:pt>
    <dgm:pt modelId="{EC5F4651-B712-43A1-BED6-9F6A2AF69984}" type="sibTrans" cxnId="{DBBCADC7-C75F-41FE-8689-E351191D6719}">
      <dgm:prSet/>
      <dgm:spPr/>
      <dgm:t>
        <a:bodyPr/>
        <a:lstStyle/>
        <a:p>
          <a:endParaRPr lang="en-IN"/>
        </a:p>
      </dgm:t>
    </dgm:pt>
    <dgm:pt modelId="{6CFF3BA9-64A9-4D2D-82E5-D23253BC3496}">
      <dgm:prSet phldrT="[Text]"/>
      <dgm:spPr/>
      <dgm:t>
        <a:bodyPr/>
        <a:lstStyle/>
        <a:p>
          <a:r>
            <a:rPr lang="en-US"/>
            <a:t>AI Innovation &amp; Startup Ecosystem </a:t>
          </a:r>
          <a:endParaRPr lang="en-IN"/>
        </a:p>
      </dgm:t>
    </dgm:pt>
    <dgm:pt modelId="{D9C34038-0502-4212-B0DE-9F2233604B9E}" type="parTrans" cxnId="{F13999A0-0BCE-4539-A3A6-883AEB729719}">
      <dgm:prSet/>
      <dgm:spPr/>
      <dgm:t>
        <a:bodyPr/>
        <a:lstStyle/>
        <a:p>
          <a:endParaRPr lang="en-IN"/>
        </a:p>
      </dgm:t>
    </dgm:pt>
    <dgm:pt modelId="{8AF87FB3-7588-4F4F-9C5C-4FD1048BAB36}" type="sibTrans" cxnId="{F13999A0-0BCE-4539-A3A6-883AEB729719}">
      <dgm:prSet/>
      <dgm:spPr/>
      <dgm:t>
        <a:bodyPr/>
        <a:lstStyle/>
        <a:p>
          <a:endParaRPr lang="en-IN"/>
        </a:p>
      </dgm:t>
    </dgm:pt>
    <dgm:pt modelId="{FD0F1C87-CA84-4E8A-8620-D52ECF37753D}">
      <dgm:prSet phldrT="[Text]"/>
      <dgm:spPr/>
      <dgm:t>
        <a:bodyPr/>
        <a:lstStyle/>
        <a:p>
          <a:r>
            <a:rPr lang="en-US"/>
            <a:t>AI Awareness, Outreach &amp; Ecosystem Engagement</a:t>
          </a:r>
          <a:endParaRPr lang="en-IN"/>
        </a:p>
      </dgm:t>
    </dgm:pt>
    <dgm:pt modelId="{2E9672EB-CB7E-42DD-A019-1B1B953348CF}" type="parTrans" cxnId="{B0379981-16FD-4182-BFAE-E3D19E20E48A}">
      <dgm:prSet/>
      <dgm:spPr/>
      <dgm:t>
        <a:bodyPr/>
        <a:lstStyle/>
        <a:p>
          <a:endParaRPr lang="en-IN"/>
        </a:p>
      </dgm:t>
    </dgm:pt>
    <dgm:pt modelId="{BF3CA50E-0330-4A9F-87D0-10F8D032C789}" type="sibTrans" cxnId="{B0379981-16FD-4182-BFAE-E3D19E20E48A}">
      <dgm:prSet/>
      <dgm:spPr/>
      <dgm:t>
        <a:bodyPr/>
        <a:lstStyle/>
        <a:p>
          <a:endParaRPr lang="en-IN"/>
        </a:p>
      </dgm:t>
    </dgm:pt>
    <dgm:pt modelId="{B165EBB1-5466-4BBB-9E25-1D9705131779}">
      <dgm:prSet phldrT="[Text]"/>
      <dgm:spPr/>
      <dgm:t>
        <a:bodyPr/>
        <a:lstStyle/>
        <a:p>
          <a:r>
            <a:rPr lang="en-US"/>
            <a:t>Secure &amp; Responsible AI</a:t>
          </a:r>
          <a:endParaRPr lang="en-IN"/>
        </a:p>
      </dgm:t>
    </dgm:pt>
    <dgm:pt modelId="{55B26CD4-D818-47E4-81FD-09CA27B27A82}" type="parTrans" cxnId="{DBF7A085-AD28-4407-82F5-182156EC287E}">
      <dgm:prSet/>
      <dgm:spPr/>
      <dgm:t>
        <a:bodyPr/>
        <a:lstStyle/>
        <a:p>
          <a:endParaRPr lang="en-IN"/>
        </a:p>
      </dgm:t>
    </dgm:pt>
    <dgm:pt modelId="{93FE06EB-05E0-410D-8BF9-CFFCE95782FB}" type="sibTrans" cxnId="{DBF7A085-AD28-4407-82F5-182156EC287E}">
      <dgm:prSet/>
      <dgm:spPr/>
      <dgm:t>
        <a:bodyPr/>
        <a:lstStyle/>
        <a:p>
          <a:endParaRPr lang="en-IN"/>
        </a:p>
      </dgm:t>
    </dgm:pt>
    <dgm:pt modelId="{98A209E4-0D5A-43FE-9130-BC4FFE485E97}">
      <dgm:prSet phldrT="[Text]"/>
      <dgm:spPr/>
      <dgm:t>
        <a:bodyPr/>
        <a:lstStyle/>
        <a:p>
          <a:r>
            <a:rPr lang="en-US"/>
            <a:t>Strengthening AI-Enabled Governance</a:t>
          </a:r>
          <a:endParaRPr lang="en-IN"/>
        </a:p>
      </dgm:t>
    </dgm:pt>
    <dgm:pt modelId="{46E8C6CE-C795-445C-B249-2AB57AC4B16F}" type="parTrans" cxnId="{3966BC9B-347B-4719-B2B3-9692E017488F}">
      <dgm:prSet/>
      <dgm:spPr/>
      <dgm:t>
        <a:bodyPr/>
        <a:lstStyle/>
        <a:p>
          <a:endParaRPr lang="en-IN"/>
        </a:p>
      </dgm:t>
    </dgm:pt>
    <dgm:pt modelId="{1A96FCDE-61D0-44C7-AA8F-AE235B983D8D}" type="sibTrans" cxnId="{3966BC9B-347B-4719-B2B3-9692E017488F}">
      <dgm:prSet/>
      <dgm:spPr/>
      <dgm:t>
        <a:bodyPr/>
        <a:lstStyle/>
        <a:p>
          <a:endParaRPr lang="en-IN"/>
        </a:p>
      </dgm:t>
    </dgm:pt>
    <dgm:pt modelId="{768C5CE0-471D-46E3-9151-DF9C86DD3551}" type="pres">
      <dgm:prSet presAssocID="{D2DC0540-FF40-49E4-8FDB-3E11FF8E1A4A}" presName="diagram" presStyleCnt="0">
        <dgm:presLayoutVars>
          <dgm:dir/>
          <dgm:resizeHandles val="exact"/>
        </dgm:presLayoutVars>
      </dgm:prSet>
      <dgm:spPr/>
    </dgm:pt>
    <dgm:pt modelId="{C837118E-BB48-4410-891E-6785695904EB}" type="pres">
      <dgm:prSet presAssocID="{289A4BD5-6295-4AB3-AD5F-CE58B9665EC7}" presName="node" presStyleLbl="node1" presStyleIdx="0" presStyleCnt="5">
        <dgm:presLayoutVars>
          <dgm:bulletEnabled val="1"/>
        </dgm:presLayoutVars>
      </dgm:prSet>
      <dgm:spPr/>
    </dgm:pt>
    <dgm:pt modelId="{6BC379F4-CFAC-4BD3-9B9C-F3A809A598E0}" type="pres">
      <dgm:prSet presAssocID="{EC5F4651-B712-43A1-BED6-9F6A2AF69984}" presName="sibTrans" presStyleCnt="0"/>
      <dgm:spPr/>
    </dgm:pt>
    <dgm:pt modelId="{9FC809AA-1A02-4EF8-97A5-ECAE46B49C01}" type="pres">
      <dgm:prSet presAssocID="{6CFF3BA9-64A9-4D2D-82E5-D23253BC3496}" presName="node" presStyleLbl="node1" presStyleIdx="1" presStyleCnt="5">
        <dgm:presLayoutVars>
          <dgm:bulletEnabled val="1"/>
        </dgm:presLayoutVars>
      </dgm:prSet>
      <dgm:spPr/>
    </dgm:pt>
    <dgm:pt modelId="{EACD6D67-1E7F-4AB1-A030-7A5D9CDF6CF1}" type="pres">
      <dgm:prSet presAssocID="{8AF87FB3-7588-4F4F-9C5C-4FD1048BAB36}" presName="sibTrans" presStyleCnt="0"/>
      <dgm:spPr/>
    </dgm:pt>
    <dgm:pt modelId="{F3978B66-7712-4D74-B27F-6E0482281522}" type="pres">
      <dgm:prSet presAssocID="{FD0F1C87-CA84-4E8A-8620-D52ECF37753D}" presName="node" presStyleLbl="node1" presStyleIdx="2" presStyleCnt="5">
        <dgm:presLayoutVars>
          <dgm:bulletEnabled val="1"/>
        </dgm:presLayoutVars>
      </dgm:prSet>
      <dgm:spPr/>
    </dgm:pt>
    <dgm:pt modelId="{EB364B00-822A-4FD1-9B3B-2BF647FE66D5}" type="pres">
      <dgm:prSet presAssocID="{BF3CA50E-0330-4A9F-87D0-10F8D032C789}" presName="sibTrans" presStyleCnt="0"/>
      <dgm:spPr/>
    </dgm:pt>
    <dgm:pt modelId="{8B82A813-D464-4403-B5AB-47DA1FA3F86C}" type="pres">
      <dgm:prSet presAssocID="{B165EBB1-5466-4BBB-9E25-1D9705131779}" presName="node" presStyleLbl="node1" presStyleIdx="3" presStyleCnt="5">
        <dgm:presLayoutVars>
          <dgm:bulletEnabled val="1"/>
        </dgm:presLayoutVars>
      </dgm:prSet>
      <dgm:spPr/>
    </dgm:pt>
    <dgm:pt modelId="{2CEA5472-61AB-4477-A8B9-DF8CCBD93CA2}" type="pres">
      <dgm:prSet presAssocID="{93FE06EB-05E0-410D-8BF9-CFFCE95782FB}" presName="sibTrans" presStyleCnt="0"/>
      <dgm:spPr/>
    </dgm:pt>
    <dgm:pt modelId="{303D7752-5039-4F62-B874-555A84C3ECE2}" type="pres">
      <dgm:prSet presAssocID="{98A209E4-0D5A-43FE-9130-BC4FFE485E97}" presName="node" presStyleLbl="node1" presStyleIdx="4" presStyleCnt="5">
        <dgm:presLayoutVars>
          <dgm:bulletEnabled val="1"/>
        </dgm:presLayoutVars>
      </dgm:prSet>
      <dgm:spPr/>
    </dgm:pt>
  </dgm:ptLst>
  <dgm:cxnLst>
    <dgm:cxn modelId="{759E7440-A5A4-46ED-9910-9A68238EB500}" type="presOf" srcId="{289A4BD5-6295-4AB3-AD5F-CE58B9665EC7}" destId="{C837118E-BB48-4410-891E-6785695904EB}" srcOrd="0" destOrd="0" presId="urn:microsoft.com/office/officeart/2005/8/layout/default"/>
    <dgm:cxn modelId="{B0379981-16FD-4182-BFAE-E3D19E20E48A}" srcId="{D2DC0540-FF40-49E4-8FDB-3E11FF8E1A4A}" destId="{FD0F1C87-CA84-4E8A-8620-D52ECF37753D}" srcOrd="2" destOrd="0" parTransId="{2E9672EB-CB7E-42DD-A019-1B1B953348CF}" sibTransId="{BF3CA50E-0330-4A9F-87D0-10F8D032C789}"/>
    <dgm:cxn modelId="{DBF7A085-AD28-4407-82F5-182156EC287E}" srcId="{D2DC0540-FF40-49E4-8FDB-3E11FF8E1A4A}" destId="{B165EBB1-5466-4BBB-9E25-1D9705131779}" srcOrd="3" destOrd="0" parTransId="{55B26CD4-D818-47E4-81FD-09CA27B27A82}" sibTransId="{93FE06EB-05E0-410D-8BF9-CFFCE95782FB}"/>
    <dgm:cxn modelId="{64E5E49A-DE43-4AB7-8F80-464F1F4C6383}" type="presOf" srcId="{98A209E4-0D5A-43FE-9130-BC4FFE485E97}" destId="{303D7752-5039-4F62-B874-555A84C3ECE2}" srcOrd="0" destOrd="0" presId="urn:microsoft.com/office/officeart/2005/8/layout/default"/>
    <dgm:cxn modelId="{3966BC9B-347B-4719-B2B3-9692E017488F}" srcId="{D2DC0540-FF40-49E4-8FDB-3E11FF8E1A4A}" destId="{98A209E4-0D5A-43FE-9130-BC4FFE485E97}" srcOrd="4" destOrd="0" parTransId="{46E8C6CE-C795-445C-B249-2AB57AC4B16F}" sibTransId="{1A96FCDE-61D0-44C7-AA8F-AE235B983D8D}"/>
    <dgm:cxn modelId="{F13999A0-0BCE-4539-A3A6-883AEB729719}" srcId="{D2DC0540-FF40-49E4-8FDB-3E11FF8E1A4A}" destId="{6CFF3BA9-64A9-4D2D-82E5-D23253BC3496}" srcOrd="1" destOrd="0" parTransId="{D9C34038-0502-4212-B0DE-9F2233604B9E}" sibTransId="{8AF87FB3-7588-4F4F-9C5C-4FD1048BAB36}"/>
    <dgm:cxn modelId="{C265FEB0-FE37-4C4E-AD15-AA229193B673}" type="presOf" srcId="{6CFF3BA9-64A9-4D2D-82E5-D23253BC3496}" destId="{9FC809AA-1A02-4EF8-97A5-ECAE46B49C01}" srcOrd="0" destOrd="0" presId="urn:microsoft.com/office/officeart/2005/8/layout/default"/>
    <dgm:cxn modelId="{DBBCADC7-C75F-41FE-8689-E351191D6719}" srcId="{D2DC0540-FF40-49E4-8FDB-3E11FF8E1A4A}" destId="{289A4BD5-6295-4AB3-AD5F-CE58B9665EC7}" srcOrd="0" destOrd="0" parTransId="{A1F2D2E3-D4C4-4783-8976-005E4DB25236}" sibTransId="{EC5F4651-B712-43A1-BED6-9F6A2AF69984}"/>
    <dgm:cxn modelId="{09E315C9-EC3F-4156-A6D3-7961C9389140}" type="presOf" srcId="{FD0F1C87-CA84-4E8A-8620-D52ECF37753D}" destId="{F3978B66-7712-4D74-B27F-6E0482281522}" srcOrd="0" destOrd="0" presId="urn:microsoft.com/office/officeart/2005/8/layout/default"/>
    <dgm:cxn modelId="{B6F171CD-22AD-49CA-9F51-37DB01DE2AC7}" type="presOf" srcId="{D2DC0540-FF40-49E4-8FDB-3E11FF8E1A4A}" destId="{768C5CE0-471D-46E3-9151-DF9C86DD3551}" srcOrd="0" destOrd="0" presId="urn:microsoft.com/office/officeart/2005/8/layout/default"/>
    <dgm:cxn modelId="{0F4292EF-CD04-4FD6-91DE-AD720624789B}" type="presOf" srcId="{B165EBB1-5466-4BBB-9E25-1D9705131779}" destId="{8B82A813-D464-4403-B5AB-47DA1FA3F86C}" srcOrd="0" destOrd="0" presId="urn:microsoft.com/office/officeart/2005/8/layout/default"/>
    <dgm:cxn modelId="{E7A44DF6-3ACF-4808-90C8-B61F3CFDF165}" type="presParOf" srcId="{768C5CE0-471D-46E3-9151-DF9C86DD3551}" destId="{C837118E-BB48-4410-891E-6785695904EB}" srcOrd="0" destOrd="0" presId="urn:microsoft.com/office/officeart/2005/8/layout/default"/>
    <dgm:cxn modelId="{D91E4D43-0B7A-4379-BC24-95FD4FD375E1}" type="presParOf" srcId="{768C5CE0-471D-46E3-9151-DF9C86DD3551}" destId="{6BC379F4-CFAC-4BD3-9B9C-F3A809A598E0}" srcOrd="1" destOrd="0" presId="urn:microsoft.com/office/officeart/2005/8/layout/default"/>
    <dgm:cxn modelId="{AA8A9266-D25A-4012-8998-7C568AC6AA76}" type="presParOf" srcId="{768C5CE0-471D-46E3-9151-DF9C86DD3551}" destId="{9FC809AA-1A02-4EF8-97A5-ECAE46B49C01}" srcOrd="2" destOrd="0" presId="urn:microsoft.com/office/officeart/2005/8/layout/default"/>
    <dgm:cxn modelId="{930A38D6-7B54-492C-A877-847DAFC6A3C5}" type="presParOf" srcId="{768C5CE0-471D-46E3-9151-DF9C86DD3551}" destId="{EACD6D67-1E7F-4AB1-A030-7A5D9CDF6CF1}" srcOrd="3" destOrd="0" presId="urn:microsoft.com/office/officeart/2005/8/layout/default"/>
    <dgm:cxn modelId="{64E3277D-7C26-41AA-AAB8-8CAC9C8C58E7}" type="presParOf" srcId="{768C5CE0-471D-46E3-9151-DF9C86DD3551}" destId="{F3978B66-7712-4D74-B27F-6E0482281522}" srcOrd="4" destOrd="0" presId="urn:microsoft.com/office/officeart/2005/8/layout/default"/>
    <dgm:cxn modelId="{084B56D8-C1E0-4FCD-A77D-D94A2018A1EF}" type="presParOf" srcId="{768C5CE0-471D-46E3-9151-DF9C86DD3551}" destId="{EB364B00-822A-4FD1-9B3B-2BF647FE66D5}" srcOrd="5" destOrd="0" presId="urn:microsoft.com/office/officeart/2005/8/layout/default"/>
    <dgm:cxn modelId="{ADE0B597-6F9C-4C23-87AE-15B3D78FEE9E}" type="presParOf" srcId="{768C5CE0-471D-46E3-9151-DF9C86DD3551}" destId="{8B82A813-D464-4403-B5AB-47DA1FA3F86C}" srcOrd="6" destOrd="0" presId="urn:microsoft.com/office/officeart/2005/8/layout/default"/>
    <dgm:cxn modelId="{D3F7FD93-6106-49EF-AA76-B5B8B0FD5EBA}" type="presParOf" srcId="{768C5CE0-471D-46E3-9151-DF9C86DD3551}" destId="{2CEA5472-61AB-4477-A8B9-DF8CCBD93CA2}" srcOrd="7" destOrd="0" presId="urn:microsoft.com/office/officeart/2005/8/layout/default"/>
    <dgm:cxn modelId="{7BAD00FD-43C7-43F0-977B-8023B3A19CF7}" type="presParOf" srcId="{768C5CE0-471D-46E3-9151-DF9C86DD3551}" destId="{303D7752-5039-4F62-B874-555A84C3ECE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BABA3-CAED-4869-8861-5630A1EEFE4C}">
      <dsp:nvSpPr>
        <dsp:cNvPr id="0" name=""/>
        <dsp:cNvSpPr/>
      </dsp:nvSpPr>
      <dsp:spPr>
        <a:xfrm>
          <a:off x="1285" y="17400"/>
          <a:ext cx="1615691" cy="820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I (Months 1–3)</a:t>
          </a:r>
          <a:endParaRPr lang="en-IN" sz="1400" kern="1200"/>
        </a:p>
      </dsp:txBody>
      <dsp:txXfrm>
        <a:off x="1285" y="17400"/>
        <a:ext cx="1615691" cy="547200"/>
      </dsp:txXfrm>
    </dsp:sp>
    <dsp:sp modelId="{6D2A882C-203B-4540-A4F8-54B937B5AB39}">
      <dsp:nvSpPr>
        <dsp:cNvPr id="0" name=""/>
        <dsp:cNvSpPr/>
      </dsp:nvSpPr>
      <dsp:spPr>
        <a:xfrm>
          <a:off x="332210" y="564600"/>
          <a:ext cx="1615691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Mobilization &amp; Use Case Discovery</a:t>
          </a:r>
          <a:endParaRPr lang="en-IN" sz="1400" kern="1200"/>
        </a:p>
      </dsp:txBody>
      <dsp:txXfrm>
        <a:off x="364264" y="596654"/>
        <a:ext cx="1551583" cy="1030292"/>
      </dsp:txXfrm>
    </dsp:sp>
    <dsp:sp modelId="{FA41E267-2759-44CE-A1EE-4E699F370E00}">
      <dsp:nvSpPr>
        <dsp:cNvPr id="0" name=""/>
        <dsp:cNvSpPr/>
      </dsp:nvSpPr>
      <dsp:spPr>
        <a:xfrm>
          <a:off x="1861910" y="89870"/>
          <a:ext cx="519257" cy="40226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861910" y="170322"/>
        <a:ext cx="398579" cy="241356"/>
      </dsp:txXfrm>
    </dsp:sp>
    <dsp:sp modelId="{3A86941D-0E31-46D2-8271-2C82EFC64C2D}">
      <dsp:nvSpPr>
        <dsp:cNvPr id="0" name=""/>
        <dsp:cNvSpPr/>
      </dsp:nvSpPr>
      <dsp:spPr>
        <a:xfrm>
          <a:off x="2596708" y="17400"/>
          <a:ext cx="1615691" cy="820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72388"/>
                <a:satOff val="8237"/>
                <a:lumOff val="627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372388"/>
                <a:satOff val="8237"/>
                <a:lumOff val="627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372388"/>
                <a:satOff val="8237"/>
                <a:lumOff val="627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II (Months 4–6)</a:t>
          </a:r>
          <a:endParaRPr lang="en-IN" sz="1400" kern="1200"/>
        </a:p>
      </dsp:txBody>
      <dsp:txXfrm>
        <a:off x="2596708" y="17400"/>
        <a:ext cx="1615691" cy="547200"/>
      </dsp:txXfrm>
    </dsp:sp>
    <dsp:sp modelId="{345F214C-680C-4C34-AE27-9A2AAD44BDF1}">
      <dsp:nvSpPr>
        <dsp:cNvPr id="0" name=""/>
        <dsp:cNvSpPr/>
      </dsp:nvSpPr>
      <dsp:spPr>
        <a:xfrm>
          <a:off x="2927633" y="564600"/>
          <a:ext cx="1615691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Pilot Design &amp; Ecosystem Activation</a:t>
          </a:r>
          <a:endParaRPr lang="en-IN" sz="1400" kern="1200"/>
        </a:p>
      </dsp:txBody>
      <dsp:txXfrm>
        <a:off x="2959687" y="596654"/>
        <a:ext cx="1551583" cy="1030292"/>
      </dsp:txXfrm>
    </dsp:sp>
    <dsp:sp modelId="{8D2480B4-CB3A-4A60-AA21-B16B08F9CF2D}">
      <dsp:nvSpPr>
        <dsp:cNvPr id="0" name=""/>
        <dsp:cNvSpPr/>
      </dsp:nvSpPr>
      <dsp:spPr>
        <a:xfrm>
          <a:off x="4457333" y="89870"/>
          <a:ext cx="519257" cy="40226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4457333" y="170322"/>
        <a:ext cx="398579" cy="241356"/>
      </dsp:txXfrm>
    </dsp:sp>
    <dsp:sp modelId="{03AD8E26-487E-41FF-93DF-88F8CE58CCC0}">
      <dsp:nvSpPr>
        <dsp:cNvPr id="0" name=""/>
        <dsp:cNvSpPr/>
      </dsp:nvSpPr>
      <dsp:spPr>
        <a:xfrm>
          <a:off x="5192132" y="17400"/>
          <a:ext cx="1615691" cy="820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44775"/>
                <a:satOff val="16475"/>
                <a:lumOff val="1255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44775"/>
                <a:satOff val="16475"/>
                <a:lumOff val="1255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44775"/>
                <a:satOff val="16475"/>
                <a:lumOff val="1255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III (Months 7–9):</a:t>
          </a:r>
          <a:endParaRPr lang="en-IN" sz="1400" kern="1200"/>
        </a:p>
      </dsp:txBody>
      <dsp:txXfrm>
        <a:off x="5192132" y="17400"/>
        <a:ext cx="1615691" cy="547200"/>
      </dsp:txXfrm>
    </dsp:sp>
    <dsp:sp modelId="{EED5FEE1-EB13-42DE-8AFB-ED6E479E794D}">
      <dsp:nvSpPr>
        <dsp:cNvPr id="0" name=""/>
        <dsp:cNvSpPr/>
      </dsp:nvSpPr>
      <dsp:spPr>
        <a:xfrm>
          <a:off x="5523056" y="564600"/>
          <a:ext cx="1615691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Pilot Implementation</a:t>
          </a:r>
          <a:endParaRPr lang="en-IN" sz="1400" kern="1200"/>
        </a:p>
      </dsp:txBody>
      <dsp:txXfrm>
        <a:off x="5555110" y="596654"/>
        <a:ext cx="1551583" cy="1030292"/>
      </dsp:txXfrm>
    </dsp:sp>
    <dsp:sp modelId="{906F1D52-162C-4F12-96BD-4801EABA9851}">
      <dsp:nvSpPr>
        <dsp:cNvPr id="0" name=""/>
        <dsp:cNvSpPr/>
      </dsp:nvSpPr>
      <dsp:spPr>
        <a:xfrm>
          <a:off x="7052756" y="89870"/>
          <a:ext cx="519257" cy="40226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7052756" y="170322"/>
        <a:ext cx="398579" cy="241356"/>
      </dsp:txXfrm>
    </dsp:sp>
    <dsp:sp modelId="{CE5D4EC3-8D7C-4B79-911A-16C6EE3DD73E}">
      <dsp:nvSpPr>
        <dsp:cNvPr id="0" name=""/>
        <dsp:cNvSpPr/>
      </dsp:nvSpPr>
      <dsp:spPr>
        <a:xfrm>
          <a:off x="7787555" y="17400"/>
          <a:ext cx="1615691" cy="820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IV (Months 10–12</a:t>
          </a:r>
          <a:endParaRPr lang="en-IN" sz="1400" kern="1200"/>
        </a:p>
      </dsp:txBody>
      <dsp:txXfrm>
        <a:off x="7787555" y="17400"/>
        <a:ext cx="1615691" cy="547200"/>
      </dsp:txXfrm>
    </dsp:sp>
    <dsp:sp modelId="{56D7B4E9-BF34-4237-B9C1-CCF607F91726}">
      <dsp:nvSpPr>
        <dsp:cNvPr id="0" name=""/>
        <dsp:cNvSpPr/>
      </dsp:nvSpPr>
      <dsp:spPr>
        <a:xfrm>
          <a:off x="8118479" y="564600"/>
          <a:ext cx="1615691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Scale-up &amp; Sustainability</a:t>
          </a:r>
          <a:endParaRPr lang="en-IN" sz="1400" kern="1200"/>
        </a:p>
      </dsp:txBody>
      <dsp:txXfrm>
        <a:off x="8150533" y="596654"/>
        <a:ext cx="1551583" cy="1030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7118E-BB48-4410-891E-6785695904EB}">
      <dsp:nvSpPr>
        <dsp:cNvPr id="0" name=""/>
        <dsp:cNvSpPr/>
      </dsp:nvSpPr>
      <dsp:spPr>
        <a:xfrm>
          <a:off x="3260" y="182798"/>
          <a:ext cx="1765368" cy="105922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Talent and Institutional Capacity</a:t>
          </a:r>
          <a:endParaRPr lang="en-IN" sz="1600" kern="1200"/>
        </a:p>
      </dsp:txBody>
      <dsp:txXfrm>
        <a:off x="3260" y="182798"/>
        <a:ext cx="1765368" cy="1059221"/>
      </dsp:txXfrm>
    </dsp:sp>
    <dsp:sp modelId="{9FC809AA-1A02-4EF8-97A5-ECAE46B49C01}">
      <dsp:nvSpPr>
        <dsp:cNvPr id="0" name=""/>
        <dsp:cNvSpPr/>
      </dsp:nvSpPr>
      <dsp:spPr>
        <a:xfrm>
          <a:off x="1945166" y="182798"/>
          <a:ext cx="1765368" cy="105922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35860"/>
                <a:satOff val="-24791"/>
                <a:lumOff val="213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235860"/>
                <a:satOff val="-24791"/>
                <a:lumOff val="213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235860"/>
                <a:satOff val="-24791"/>
                <a:lumOff val="213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Innovation &amp; Startup Ecosystem </a:t>
          </a:r>
          <a:endParaRPr lang="en-IN" sz="1600" kern="1200"/>
        </a:p>
      </dsp:txBody>
      <dsp:txXfrm>
        <a:off x="1945166" y="182798"/>
        <a:ext cx="1765368" cy="1059221"/>
      </dsp:txXfrm>
    </dsp:sp>
    <dsp:sp modelId="{F3978B66-7712-4D74-B27F-6E0482281522}">
      <dsp:nvSpPr>
        <dsp:cNvPr id="0" name=""/>
        <dsp:cNvSpPr/>
      </dsp:nvSpPr>
      <dsp:spPr>
        <a:xfrm>
          <a:off x="3887072" y="182798"/>
          <a:ext cx="1765368" cy="105922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471719"/>
                <a:satOff val="-49582"/>
                <a:lumOff val="4278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471719"/>
                <a:satOff val="-49582"/>
                <a:lumOff val="4278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471719"/>
                <a:satOff val="-49582"/>
                <a:lumOff val="4278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Awareness, Outreach &amp; Ecosystem Engagement</a:t>
          </a:r>
          <a:endParaRPr lang="en-IN" sz="1600" kern="1200"/>
        </a:p>
      </dsp:txBody>
      <dsp:txXfrm>
        <a:off x="3887072" y="182798"/>
        <a:ext cx="1765368" cy="1059221"/>
      </dsp:txXfrm>
    </dsp:sp>
    <dsp:sp modelId="{8B82A813-D464-4403-B5AB-47DA1FA3F86C}">
      <dsp:nvSpPr>
        <dsp:cNvPr id="0" name=""/>
        <dsp:cNvSpPr/>
      </dsp:nvSpPr>
      <dsp:spPr>
        <a:xfrm>
          <a:off x="5828977" y="182798"/>
          <a:ext cx="1765368" cy="105922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471719"/>
                <a:satOff val="-49582"/>
                <a:lumOff val="4278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471719"/>
                <a:satOff val="-49582"/>
                <a:lumOff val="4278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471719"/>
                <a:satOff val="-49582"/>
                <a:lumOff val="4278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Secure &amp; Responsible AI</a:t>
          </a:r>
          <a:endParaRPr lang="en-IN" sz="1600" kern="1200"/>
        </a:p>
      </dsp:txBody>
      <dsp:txXfrm>
        <a:off x="5828977" y="182798"/>
        <a:ext cx="1765368" cy="1059221"/>
      </dsp:txXfrm>
    </dsp:sp>
    <dsp:sp modelId="{303D7752-5039-4F62-B874-555A84C3ECE2}">
      <dsp:nvSpPr>
        <dsp:cNvPr id="0" name=""/>
        <dsp:cNvSpPr/>
      </dsp:nvSpPr>
      <dsp:spPr>
        <a:xfrm>
          <a:off x="7770883" y="182798"/>
          <a:ext cx="1765368" cy="1059221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35860"/>
                <a:satOff val="-24791"/>
                <a:lumOff val="213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50000"/>
                <a:hueOff val="235860"/>
                <a:satOff val="-24791"/>
                <a:lumOff val="213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50000"/>
                <a:hueOff val="235860"/>
                <a:satOff val="-24791"/>
                <a:lumOff val="213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Strengthening AI-Enabled Governance</a:t>
          </a:r>
          <a:endParaRPr lang="en-IN" sz="1600" kern="1200"/>
        </a:p>
      </dsp:txBody>
      <dsp:txXfrm>
        <a:off x="7770883" y="182798"/>
        <a:ext cx="1765368" cy="1059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1211-C4D9-6E88-9ABB-961E9FB4F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7D2E2-84F4-FBAA-1147-09A947797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9AA3-605D-9604-12C0-5B7D060C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EB1B9-001B-159D-50D4-5159B216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4BDA9-42C2-93D2-EEC9-A2B68533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74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8FB6-8747-D938-6BD2-C283B693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48E0-2243-4CB3-2B3E-33ECB20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25AB-DB3A-DADA-0738-CFC505CD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68EB-B958-2D52-D7F7-A9DD336F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BCC0-CA34-C9A6-FAA0-0B0FCF63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81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DDB4-EF71-5ED5-85CE-7EADD766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C2030-949D-4E9A-A37A-B1B0644E3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3FA63-30E3-34AD-4D5D-CF5B2EB2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0200-8EAD-725E-E102-D6AF5C57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1F6BD-5DE1-2AE9-DE22-10E6AE47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2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46B6-3270-9D0C-BC0B-9957EB7C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0A9C-BCCB-FE39-05FE-19E5D9EA0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54DB4-3CF4-01FA-9535-1E01A2F2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B2411-F088-EE91-759E-99989D60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90C3-754E-8858-C810-8380AC97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D910A-A83C-1BA8-10CA-8D20D93F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29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E695-D512-E88E-BCE5-EE5C9671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AB97-90A4-F9F1-FCAE-8DC6D594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7440-8971-8B5D-BEDE-503ED43D6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4897A-D5D9-1D8E-5FA9-52ADD0458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8E7-4012-BC18-3D6A-0C9E16A53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3EB09-5B78-E840-82A7-8506D971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0A7727-013D-5103-66E1-B770921F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379EE-610C-60B1-BD07-DE04644A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78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935F-B531-F1B1-3523-EE886D4F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36FE3-95C6-B542-7623-2B8B1700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C3CAB-B6FA-BC4D-EB47-33349193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066B4-4B43-7715-52EF-EE660DFC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95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A2C04-1D25-4CA0-DB22-B490967B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8BD12-B722-9FDC-35FF-317CB9F7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0E6D-5C06-86FD-C655-82896238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42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4F53-6AB6-9396-9DBC-A816F6F5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12EB-554D-33F9-E216-03E5200C4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1CEC1-D73E-28AF-F4EA-0DFC3DD7F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C1D6A-5FDC-1A81-FAD9-95FA9379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88AC8-607E-CA8E-72D4-AA55EC23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C77E7-DE4C-A518-BBB1-3A1D847E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9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952C-9E39-88DD-70E1-2B02ED53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4233F-AFBB-C0E4-36E5-8E84EFE42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8DF5B-CDE4-CA38-56EF-EF05D142C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1C7A7-EEA6-8A44-537D-EBA17604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B6522-68EF-B4D4-5498-F38ECAC4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3280A-67DD-2F12-2DDB-5CEC5187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3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4C2F-B775-6EB5-7BAF-A4C90925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FF19C-775E-DD6A-81CD-4552B3AF1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8674-28E6-AC6F-A4E5-B4DCA111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A0B4A-14EA-04C9-EE2D-DDC5E773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B41C1-3A95-B6F8-B715-FE8A9670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6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FEC59-6BCC-4BDC-B39B-420865A86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2978F-A112-D04F-58B5-8E3EB1485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8428-3859-3C0D-2C26-402BD0F3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D0060-15D1-B61A-5D88-C9D496C1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3F21-7EA5-B632-FE16-1A399A5E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36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DDD4C-A0D1-0AA5-677C-FABAE4FF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0CE39-B959-F294-5C77-68C158AC1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A9F7-CF77-902D-31A7-0EE4F0753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C0A8-DA27-4894-BEF1-226957FA1BA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383F6-4531-79A0-2878-26BBF520D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E593-7C22-926B-EA14-66D77D12E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2527C-CB89-412E-BC93-0B0910B64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77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2E35-122B-7E30-3103-B559E70F3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9048"/>
            <a:ext cx="9144000" cy="2387600"/>
          </a:xfrm>
        </p:spPr>
        <p:txBody>
          <a:bodyPr/>
          <a:lstStyle/>
          <a:p>
            <a:r>
              <a:rPr lang="en-IN">
                <a:solidFill>
                  <a:schemeClr val="accent2"/>
                </a:solidFill>
              </a:rPr>
              <a:t>Chhattisgarh AI Mission Implementation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177C8-40A9-2C6F-AE30-ADB73F75F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0609"/>
            <a:ext cx="9144000" cy="1655762"/>
          </a:xfrm>
        </p:spPr>
        <p:txBody>
          <a:bodyPr/>
          <a:lstStyle/>
          <a:p>
            <a:r>
              <a:rPr lang="en-IN" i="1"/>
              <a:t>1 July 2026</a:t>
            </a:r>
          </a:p>
        </p:txBody>
      </p:sp>
    </p:spTree>
    <p:extLst>
      <p:ext uri="{BB962C8B-B14F-4D97-AF65-F5344CB8AC3E}">
        <p14:creationId xmlns:p14="http://schemas.microsoft.com/office/powerpoint/2010/main" val="53980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6A19-198B-B0AC-C89B-6AA446F7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6" y="538845"/>
            <a:ext cx="10515600" cy="700088"/>
          </a:xfrm>
        </p:spPr>
        <p:txBody>
          <a:bodyPr/>
          <a:lstStyle/>
          <a:p>
            <a:r>
              <a:rPr lang="en-IN"/>
              <a:t>Implementation Roadmap Strategy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5DF3BE4-3FA7-5812-7633-B8E3C66DB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235150"/>
              </p:ext>
            </p:extLst>
          </p:nvPr>
        </p:nvGraphicFramePr>
        <p:xfrm>
          <a:off x="1955799" y="1894113"/>
          <a:ext cx="9735457" cy="1676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558DF69-3CEE-3618-288C-879E20ECD0CC}"/>
              </a:ext>
            </a:extLst>
          </p:cNvPr>
          <p:cNvSpPr/>
          <p:nvPr/>
        </p:nvSpPr>
        <p:spPr>
          <a:xfrm>
            <a:off x="261256" y="1690689"/>
            <a:ext cx="1567543" cy="20522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Phase Wise Implementation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D3E646-E24C-20BF-A2FC-5019E275A0D8}"/>
              </a:ext>
            </a:extLst>
          </p:cNvPr>
          <p:cNvSpPr/>
          <p:nvPr/>
        </p:nvSpPr>
        <p:spPr>
          <a:xfrm>
            <a:off x="261257" y="1690689"/>
            <a:ext cx="11669486" cy="20522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CFA69-A114-475A-A1A1-A7D239E3A877}"/>
              </a:ext>
            </a:extLst>
          </p:cNvPr>
          <p:cNvSpPr/>
          <p:nvPr/>
        </p:nvSpPr>
        <p:spPr>
          <a:xfrm>
            <a:off x="261257" y="4011720"/>
            <a:ext cx="1567542" cy="20522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Priority Wise PMU Support Activities and Deliverables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60647-689C-8BCA-2701-462C42618BCA}"/>
              </a:ext>
            </a:extLst>
          </p:cNvPr>
          <p:cNvSpPr/>
          <p:nvPr/>
        </p:nvSpPr>
        <p:spPr>
          <a:xfrm>
            <a:off x="261257" y="4011720"/>
            <a:ext cx="11669486" cy="20522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E1CAF19-836E-A936-6B6E-9F6A622BA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35660"/>
              </p:ext>
            </p:extLst>
          </p:nvPr>
        </p:nvGraphicFramePr>
        <p:xfrm>
          <a:off x="2151743" y="4325457"/>
          <a:ext cx="9539513" cy="1424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0245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EF92-8E8E-AF7F-3FA5-DA0D8181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430666"/>
            <a:ext cx="10515600" cy="623888"/>
          </a:xfrm>
        </p:spPr>
        <p:txBody>
          <a:bodyPr>
            <a:normAutofit/>
          </a:bodyPr>
          <a:lstStyle/>
          <a:p>
            <a:r>
              <a:rPr lang="en-IN" sz="3200" b="1"/>
              <a:t>Phase I (Months 1–3): Mobilisation &amp; Use Case Discovery</a:t>
            </a:r>
            <a:endParaRPr lang="en-IN"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AAA832-3A1A-9D7E-A94B-DFBC388B8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38472"/>
              </p:ext>
            </p:extLst>
          </p:nvPr>
        </p:nvGraphicFramePr>
        <p:xfrm>
          <a:off x="468085" y="1273630"/>
          <a:ext cx="11092542" cy="5265293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202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Workstream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Activities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Deliverable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41563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Use Cases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Preparing a preliminary list of AI Use Cases by reviewing AI interventions and best practices adopted by other states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List of AI Use Cases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653030"/>
                  </a:ext>
                </a:extLst>
              </a:tr>
              <a:tr h="4156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Consultation/Workshops with Departments to Identify, refine and prioritize areas that need AI Interventions in the state and in govt. departments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Report on Need Assessment of AI in Govt Departments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305246"/>
                  </a:ext>
                </a:extLst>
              </a:tr>
              <a:tr h="4156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Customize list of AI Use Cases to align with priorities of Chhattisgarh AI Mission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Use Case Compendium for Chhattisgarh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215766"/>
                  </a:ext>
                </a:extLst>
              </a:tr>
              <a:tr h="84174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Access to GPUs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Identify the IndiaAI Mission's AI compute ecosystem, including eligibility criteria, minimum GPU/compute requirements, allocation framework and best practices adopted by other states, to determine the minimum viable compute requirement for Chhattisgarh.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Compute Requirement Assessment &amp; Recommendation Report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117802"/>
                  </a:ext>
                </a:extLst>
              </a:tr>
              <a:tr h="62869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Engage with the IndiaAI Mission to discuss the State's compute requirements, facilitate revisions to the GPU proposal (if required), and support the State in securing AI compute resources.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GPU Proposal Support Note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769620"/>
                  </a:ext>
                </a:extLst>
              </a:tr>
              <a:tr h="20258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CoE Operationalisation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Benchmark AI Centres of Excellence across India and globally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List of activities for CoEs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851260"/>
                  </a:ext>
                </a:extLst>
              </a:tr>
              <a:tr h="2025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Identify thematic focus areas for each CoE based on partner expertise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54227"/>
                  </a:ext>
                </a:extLst>
              </a:tr>
              <a:tr h="6286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Labs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Examine best practices in AI skilling initiatives across other states and national programmes to assess curriculum, delivery mechanisms and partnership models foe AI Labs 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Labs Benchmarking Report and Curriculum Framework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487280"/>
                  </a:ext>
                </a:extLst>
              </a:tr>
              <a:tr h="4156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Identify academic institutions, industry experts, technology companies and training partners for programmes through AI Labs.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AI Labs Partnership and Engagement Plan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717841"/>
                  </a:ext>
                </a:extLst>
              </a:tr>
              <a:tr h="202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Partnerships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Initiate engagement with technology partners, academia and startups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-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773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7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7009-C930-5FEE-B63D-107A1AD0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5869-10B8-B02D-E21F-20D0573A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430666"/>
            <a:ext cx="10515600" cy="623888"/>
          </a:xfrm>
        </p:spPr>
        <p:txBody>
          <a:bodyPr>
            <a:normAutofit/>
          </a:bodyPr>
          <a:lstStyle/>
          <a:p>
            <a:r>
              <a:rPr lang="en-US" sz="3200" b="1"/>
              <a:t>Phase II (Months 4–6): Pilot Design &amp; Ecosystem Activation</a:t>
            </a:r>
            <a:endParaRPr lang="en-IN"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EAD7AB-AFA2-0B27-C817-4F004765C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4621"/>
              </p:ext>
            </p:extLst>
          </p:nvPr>
        </p:nvGraphicFramePr>
        <p:xfrm>
          <a:off x="468085" y="1197428"/>
          <a:ext cx="11092542" cy="5339768"/>
        </p:xfrm>
        <a:graphic>
          <a:graphicData uri="http://schemas.openxmlformats.org/drawingml/2006/table">
            <a:tbl>
              <a:tblPr/>
              <a:tblGrid>
                <a:gridCol w="2383972">
                  <a:extLst>
                    <a:ext uri="{9D8B030D-6E8A-4147-A177-3AD203B41FA5}">
                      <a16:colId xmlns:a16="http://schemas.microsoft.com/office/drawing/2014/main" val="9391728"/>
                    </a:ext>
                  </a:extLst>
                </a:gridCol>
                <a:gridCol w="5011056">
                  <a:extLst>
                    <a:ext uri="{9D8B030D-6E8A-4147-A177-3AD203B41FA5}">
                      <a16:colId xmlns:a16="http://schemas.microsoft.com/office/drawing/2014/main" val="511537702"/>
                    </a:ext>
                  </a:extLst>
                </a:gridCol>
                <a:gridCol w="3697514">
                  <a:extLst>
                    <a:ext uri="{9D8B030D-6E8A-4147-A177-3AD203B41FA5}">
                      <a16:colId xmlns:a16="http://schemas.microsoft.com/office/drawing/2014/main" val="4007532406"/>
                    </a:ext>
                  </a:extLst>
                </a:gridCol>
              </a:tblGrid>
              <a:tr h="13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Workstream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Activities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Key Deliverables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79562"/>
                  </a:ext>
                </a:extLst>
              </a:tr>
              <a:tr h="75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Centre of Excellence (CoEs)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Operationalise the Centres of Excellence (</a:t>
                      </a:r>
                      <a:r>
                        <a:rPr lang="en-IN" sz="1400" err="1"/>
                        <a:t>CoEs</a:t>
                      </a:r>
                      <a:r>
                        <a:rPr lang="en-IN" sz="1400"/>
                        <a:t>) by supporting IIIT Naya Raipur and NIT Raipur in defining focus areas, developing annual activity plans and initiating collaborative programmes.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CoE Operational Framework; Annual Activity Plans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247723"/>
                  </a:ext>
                </a:extLst>
              </a:tr>
              <a:tr h="856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Data Labs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Launch AI Labs by finalising implementation models, curriculum frameworks, infrastructure requirements and engaging academic institutions, industry experts and technology partners for AI skilling programmes.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Data Lab Implementation Framework; Lab Design &amp; Infrastructure Guidelines; Curriculum &amp; Training Framework; Institution &amp; Partner Empanelment Report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6424"/>
                  </a:ext>
                </a:extLst>
              </a:tr>
              <a:tr h="75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Capacity Building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Roll out government AI skilling programmes by identifying training needs, designing learning frameworks and facilitating capacity-building initiatives for government officials and other stakeholders.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Training Needs Assessment Report; AI Skilling Plan;  Capacity Building Progress Report/KPIs for Dashboard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42155"/>
                  </a:ext>
                </a:extLst>
              </a:tr>
              <a:tr h="65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Innovation Challenge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Launch the AI Innovation Challenge to crowdsource innovative AI solutions from startups, academia and students for priority government use cases and societal challenges.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Challenge Design Document,; Problem Statement Repository; Evaluation &amp; Selection Framework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975767"/>
                  </a:ext>
                </a:extLst>
              </a:tr>
              <a:tr h="75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Startup Ecosystem Development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Initiate startup incubation and ecosystem development activities by engaging startups, incubators, investors, academic institutions and industry partners to foster AI innovation and entrepreneurship.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Startup Ecosystem Strategy; Incubation &amp; Mentorship Framework 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2811"/>
                  </a:ext>
                </a:extLst>
              </a:tr>
              <a:tr h="856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Use-case Identification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Identify and select 10–15 high-impact AI pilot projects in consultation with government departments, based on feasibility, strategic priorities and potential public value, for implementation in the subsequent phase.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Department-wise AI Use-case Assessment Report; AI Pilot Prioritisation Matrix;  Pilot Project Concept Notes; Phase-II Implementation Pipeline</a:t>
                      </a:r>
                    </a:p>
                  </a:txBody>
                  <a:tcPr marL="31305" marR="31305" marT="15652" marB="156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430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519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168A-579C-D490-B20D-F03A66BC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32CA-AF0A-A8C4-9CC6-4F0698A4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430666"/>
            <a:ext cx="10515600" cy="623888"/>
          </a:xfrm>
        </p:spPr>
        <p:txBody>
          <a:bodyPr>
            <a:normAutofit/>
          </a:bodyPr>
          <a:lstStyle/>
          <a:p>
            <a:r>
              <a:rPr lang="en-US" sz="3200" b="1"/>
              <a:t>Phase III (Months 7–9): Pilot Implementation</a:t>
            </a:r>
            <a:endParaRPr lang="en-IN"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F54C6E-FF1D-49A2-18F3-0890B07D4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48000"/>
              </p:ext>
            </p:extLst>
          </p:nvPr>
        </p:nvGraphicFramePr>
        <p:xfrm>
          <a:off x="549727" y="1009651"/>
          <a:ext cx="11092545" cy="5506077"/>
        </p:xfrm>
        <a:graphic>
          <a:graphicData uri="http://schemas.openxmlformats.org/drawingml/2006/table">
            <a:tbl>
              <a:tblPr/>
              <a:tblGrid>
                <a:gridCol w="2117273">
                  <a:extLst>
                    <a:ext uri="{9D8B030D-6E8A-4147-A177-3AD203B41FA5}">
                      <a16:colId xmlns:a16="http://schemas.microsoft.com/office/drawing/2014/main" val="4220728550"/>
                    </a:ext>
                  </a:extLst>
                </a:gridCol>
                <a:gridCol w="5277757">
                  <a:extLst>
                    <a:ext uri="{9D8B030D-6E8A-4147-A177-3AD203B41FA5}">
                      <a16:colId xmlns:a16="http://schemas.microsoft.com/office/drawing/2014/main" val="2729069770"/>
                    </a:ext>
                  </a:extLst>
                </a:gridCol>
                <a:gridCol w="3697515">
                  <a:extLst>
                    <a:ext uri="{9D8B030D-6E8A-4147-A177-3AD203B41FA5}">
                      <a16:colId xmlns:a16="http://schemas.microsoft.com/office/drawing/2014/main" val="2432517944"/>
                    </a:ext>
                  </a:extLst>
                </a:gridCol>
              </a:tblGrid>
              <a:tr h="188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Workstream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Activities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Key Deliverables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101521"/>
                  </a:ext>
                </a:extLst>
              </a:tr>
              <a:tr h="68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Departmental AI Pilot Implementation Support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Implement departmental AI pilots by coordinating with implementing departments, Centres of Excellence, technology partners and other stakeholders to facilitate the development, testing and deployment of priority AI use cases.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Pilot Implementation Plans; Indicators for Pilot Deployment Dashboard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406938"/>
                  </a:ext>
                </a:extLst>
              </a:tr>
              <a:tr h="68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Capacity Building &amp; Knowledge Support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Undertake continuous capacity building through workshops, training programmes and knowledge-sharing sessions for government officials, AI Labs, Centres of Excellence and other ecosystem stakeholders.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Capacity Building Calendar; Knowledge Repository and Learning Resources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093041"/>
                  </a:ext>
                </a:extLst>
              </a:tr>
              <a:tr h="849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Innovation Challenges &amp; Hackathons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Organise AI innovation challenges and hackathons to encourage participation from startups, students, researchers and innovators in developing AI solutions for identified government use cases.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Hackathon &amp; Innovation Challenge Rollout Strategy; Prototype Showcase Compendium;  AI Solution Pipeline for Government Adoption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2292"/>
                  </a:ext>
                </a:extLst>
              </a:tr>
              <a:tr h="68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Startup Mentoring &amp; Ecosystem Development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Facilitate startup mentoring and ecosystem engagement by connecting startups with academic institutions, industry experts, investors and government departments to support pilot development and innovation.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Startup Mentorship Programme Framework; Startup Engagement and Investor Connect Reports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997933"/>
                  </a:ext>
                </a:extLst>
              </a:tr>
              <a:tr h="68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Programme Monitoring &amp; Documentation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Monitor and document implementation progress by tracking milestones, maintaining progress reports, documenting key achievements, challenges and lessons learnt, and preparing periodic status reports.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KPIs for Programme Monitoring Dashboard;  Monthly &amp; Quarterly Progress Reports; Lessons Learned and Best Practices Compendium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342248"/>
                  </a:ext>
                </a:extLst>
              </a:tr>
              <a:tr h="683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Mid-term Review &amp; Course Correction</a:t>
                      </a:r>
                      <a:endParaRPr lang="en-IN" sz="1400"/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Conduct a mid-term implementation review to assess progress against planned activities, identify implementation gaps and recommend realignment or reprioritisation of activities, where required.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Mid-term Review Report; Gap Analysis &amp; Corrective Action Plan;  Revised Implementation Roadmap; Recommendations for Phase III Implementation</a:t>
                      </a:r>
                    </a:p>
                  </a:txBody>
                  <a:tcPr marL="29401" marR="29401" marT="14700" marB="14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50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906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0CC26E-0505-69BF-F318-DD8099291939}"/>
              </a:ext>
            </a:extLst>
          </p:cNvPr>
          <p:cNvSpPr txBox="1">
            <a:spLocks/>
          </p:cNvSpPr>
          <p:nvPr/>
        </p:nvSpPr>
        <p:spPr>
          <a:xfrm>
            <a:off x="370114" y="430666"/>
            <a:ext cx="10515600" cy="62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/>
              <a:t>Phase IV (Months 10–12): Scale-up &amp; Sustainability</a:t>
            </a:r>
            <a:endParaRPr lang="en-IN" sz="32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106658-8547-A46F-E10E-3166BBD23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94972"/>
              </p:ext>
            </p:extLst>
          </p:nvPr>
        </p:nvGraphicFramePr>
        <p:xfrm>
          <a:off x="465807" y="1167303"/>
          <a:ext cx="11081658" cy="5215734"/>
        </p:xfrm>
        <a:graphic>
          <a:graphicData uri="http://schemas.openxmlformats.org/drawingml/2006/table">
            <a:tbl>
              <a:tblPr/>
              <a:tblGrid>
                <a:gridCol w="2808515">
                  <a:extLst>
                    <a:ext uri="{9D8B030D-6E8A-4147-A177-3AD203B41FA5}">
                      <a16:colId xmlns:a16="http://schemas.microsoft.com/office/drawing/2014/main" val="2917858281"/>
                    </a:ext>
                  </a:extLst>
                </a:gridCol>
                <a:gridCol w="4579257">
                  <a:extLst>
                    <a:ext uri="{9D8B030D-6E8A-4147-A177-3AD203B41FA5}">
                      <a16:colId xmlns:a16="http://schemas.microsoft.com/office/drawing/2014/main" val="912563675"/>
                    </a:ext>
                  </a:extLst>
                </a:gridCol>
                <a:gridCol w="3693886">
                  <a:extLst>
                    <a:ext uri="{9D8B030D-6E8A-4147-A177-3AD203B41FA5}">
                      <a16:colId xmlns:a16="http://schemas.microsoft.com/office/drawing/2014/main" val="2644493823"/>
                    </a:ext>
                  </a:extLst>
                </a:gridCol>
              </a:tblGrid>
              <a:tr h="190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Workstream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Activities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Key Deliverables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1393"/>
                  </a:ext>
                </a:extLst>
              </a:tr>
              <a:tr h="73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AI Pilot Evaluation &amp; Validation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Evaluate AI pilot projects to assess outcomes, implementation challenges and readiness for wider adoption.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Pilot Evaluation Reports; Pilot Performance &amp; Outcome Assessment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929781"/>
                  </a:ext>
                </a:extLst>
              </a:tr>
              <a:tr h="873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Scale-up Planning &amp; Departmental Adoption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Scale successful AI solutions by identifying high-impact pilots for expansion across departments and supporting implementation planning.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Scale-up Strategy &amp; Implementation Plan; Department-wise Roll-out Roadmaps; Scale-up Prioritisation Matrix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559840"/>
                  </a:ext>
                </a:extLst>
              </a:tr>
              <a:tr h="873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Year-2 Strategic Planning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Prepare the Year-2 implementation roadmap based on lessons learnt, emerging priorities and future mission objectives.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Year-2 AI Mission Implementation Roadmap; Strategic Priority &amp; Resource Planning Report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424116"/>
                  </a:ext>
                </a:extLst>
              </a:tr>
              <a:tr h="73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Mission Reporting &amp; Performance Review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 the Annual AI Mission Report highlighting key achievements, milestones, partnerships and implementation progress.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Annual AI Mission Report; Mission Performance Dashboard; Partnership &amp; Milestone Report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66342"/>
                  </a:ext>
                </a:extLst>
              </a:tr>
              <a:tr h="873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Knowledge Management &amp; Documentation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Establish a knowledge repository to capture project documentation, case studies, best practices and reusable resources developed during the Mission.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Mission Knowledge Repository; Best Practices &amp; Case Study Compendium; Standard Templates &amp; Toolkits Repository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412604"/>
                  </a:ext>
                </a:extLst>
              </a:tr>
              <a:tr h="873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Impact Assessment &amp; Future Strategy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Conduct an impact assessment to evaluate the Mission's progress against defined KPIs and recommend strategic interventions for the next phase.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Mission Impact Assessment Report; KPI for  Achievement &amp; Outcome Evaluation; Strategic Recommendations Report</a:t>
                      </a:r>
                    </a:p>
                  </a:txBody>
                  <a:tcPr marL="38851" marR="38851" marT="19426" marB="194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826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70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7D10-0F36-A994-182A-55B93ADC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C180-F8F8-FB96-A74E-257E135AB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43791"/>
            <a:ext cx="12192000" cy="177041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AI Talent and Institutional Capacity– PMU Support and Deliverables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75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2F3E-0316-9788-2655-82FA32A0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005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US" sz="3600"/>
              <a:t>AI Talent and Institutional Capacity</a:t>
            </a:r>
            <a:endParaRPr lang="en-IN" sz="36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831B2A-862C-A602-EB26-20E0610FC9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86885"/>
          <a:ext cx="11092542" cy="501611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821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Workstream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Activities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</a:rPr>
                        <a:t>Deliverable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565389">
                <a:tc row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School AI Capacity Building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 baseline assessment of AI readiness of School Education Department and government schools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Assessment Report; </a:t>
                      </a: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Annual Implementation Plan and rollout strategy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773759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Stakeholder consultations to identify pilot districts and schools based on predefined criteria</a:t>
                      </a:r>
                      <a:r>
                        <a:rPr lang="en-I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District-wise Rollout Plan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863896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and facilitate empanelment of training partners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RFP Preparation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585007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preparation of teacher capacity-building framework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Devise Teacher Training Strategy and Training Calendar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30757"/>
                  </a:ext>
                </a:extLst>
              </a:tr>
              <a:tr h="37319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 monitoring indicators and reporting formats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Monitoring Framework, KPIs and Dashboard Templates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524126"/>
                  </a:ext>
                </a:extLst>
              </a:tr>
              <a:tr h="633022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Higher Education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Assess AI readiness of universities and colleges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Assessment Report,</a:t>
                      </a:r>
                      <a:r>
                        <a:rPr lang="en-US" sz="1400"/>
                        <a:t> Annual Implementation Plan and rollout strategy</a:t>
                      </a:r>
                      <a:endParaRPr lang="en-IN" sz="14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564944"/>
                  </a:ext>
                </a:extLst>
              </a:tr>
              <a:tr h="45312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Stakeholder consultations to identify </a:t>
                      </a:r>
                      <a:r>
                        <a:rPr lang="en-IN" sz="1400"/>
                        <a:t>priority institutions for phased rollout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Institutional Prioritization Report; AI Implementation Framework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794090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Assist departments in designing AI certification ecosystem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Certification Framework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367725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 student innovation grant operational guidelines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Student Innovation Grant Guidelines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650397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 planning of hackathons and innovation challenges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Annual Innovation Calendar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564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95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776E-02E4-488B-401F-88143EF8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047654-E851-6A71-AA1D-47765CD66C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25098"/>
          <a:ext cx="11092542" cy="3607803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821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Workstream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Activities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Deliverable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182182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ITIs &amp; Polytechnics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Conduct demand assessment for AI-enabled industrial 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Skill Gap Assessment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029198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Identify trades suitable for AI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Trade Prioritization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911460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Develop instructor training roadmap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err="1"/>
                        <a:t>ToT</a:t>
                      </a:r>
                      <a:r>
                        <a:rPr lang="en-IN" sz="1800"/>
                        <a:t> Roadmap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022473"/>
                  </a:ext>
                </a:extLst>
              </a:tr>
              <a:tr h="37378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Faculty &amp; Trainer Development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Conduct Training Needs Assessment and prepare faculty development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Assessment report and capacity building rollout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956357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Support empanelment of master trainers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RFP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150134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Prepare training calendar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Annual Training Calendar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71329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A0F1F5F-17E6-B7D6-5392-8E38607F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005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US" sz="3600"/>
              <a:t>AI Talent and Institutional Capacity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112944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6F11-1465-ED80-8771-68F6017C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8CAB-19D2-ED98-8027-619C091B9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43791"/>
            <a:ext cx="12192000" cy="177041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AI Innovation &amp; Startup Ecosystem – PMU Support and Deliverables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57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43AB-B091-7EC3-7AB2-F3C580CF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EF58C1-41CB-5159-9908-A1B535431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964460"/>
              </p:ext>
            </p:extLst>
          </p:nvPr>
        </p:nvGraphicFramePr>
        <p:xfrm>
          <a:off x="457200" y="1222327"/>
          <a:ext cx="11092542" cy="5261749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821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182182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Data Labs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preparation of technical specifications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Devise Technical Design &amp; Infrastructure Specifications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029198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implementation roadmap for phased rollout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Lab Rollout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911460"/>
                  </a:ext>
                </a:extLst>
              </a:tr>
              <a:tr h="182182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monitoring indicators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KPIs for Performance Monitoring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022473"/>
                  </a:ext>
                </a:extLst>
              </a:tr>
              <a:tr h="373786"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Centres of Excellence (CoEs)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Identify sectoral priorities and CoE focus areas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CoE Strategy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956357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preparation of DPRs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Detailed Project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150134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Facilitate partnerships with academia and industry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Partnership &amp; Collaboration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713293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research and innovation roadmap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Five-Year Research Roadmap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670608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operational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CoE Operations 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510998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 institutional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KPIs for CoE Performance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89231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08731F5-E816-42AE-A5E7-72463096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005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US" sz="3600"/>
              <a:t>AI Innovation &amp; Startup Ecosystem 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29617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75D5-44D7-0EEA-7A1B-AE094F29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EBF64D-8828-132D-5287-2DD4C7B97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958731"/>
              </p:ext>
            </p:extLst>
          </p:nvPr>
        </p:nvGraphicFramePr>
        <p:xfrm>
          <a:off x="457200" y="1625098"/>
          <a:ext cx="11092542" cy="4522203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821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373786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Startup Incubation &amp; Acceleration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startup lifecycle support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Startup Rollout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660950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startup selection and evaluation 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Selection &amp; Evaluation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309367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mentor onboarding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Mentor &amp; Expert Network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168208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startup monitoring indicators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Startup KPI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738939"/>
                  </a:ext>
                </a:extLst>
              </a:tr>
              <a:tr h="37378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Challenge-Based Innovation Programmes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departments in identifying AI 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Department-wise AI Problem Statement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402225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challenge programme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Innovation Challenge Programme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2003"/>
                  </a:ext>
                </a:extLst>
              </a:tr>
              <a:tr h="373786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evaluation 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Evaluation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3308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B03875F-9D37-83DE-EF97-02BA582C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005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US" sz="3600"/>
              <a:t>AI Innovation &amp; Startup Ecosystem 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253064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934D-7614-ECA8-F3F2-11803948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7D22B7-252A-3FF7-1690-7046FF1C0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8030194"/>
              </p:ext>
            </p:extLst>
          </p:nvPr>
        </p:nvGraphicFramePr>
        <p:xfrm>
          <a:off x="457200" y="1148877"/>
          <a:ext cx="11092542" cy="534555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5878285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3233056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821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253945"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AI Sandbox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Sandbox operating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Sandbox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84325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technical testing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Sandbox Testing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1653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privacy, security and compliance checklist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Responsible AI Compliance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57786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pilot evaluation methodology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Pilot Evaluation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077866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onboarding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Sandbox User 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148242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 pilot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Sandbox Performance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789906"/>
                  </a:ext>
                </a:extLst>
              </a:tr>
              <a:tr h="253945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Innovation Grants &amp; Incentive Support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eligibility and evaluation 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Grant Operational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383022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proposal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 Evaluation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97148"/>
                  </a:ext>
                </a:extLst>
              </a:tr>
              <a:tr h="253945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Applied Research &amp; Academic Collaboration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Identify priority research themes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AI Research Agenda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50131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Facilitate collaboration among academia, industry and government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Collaboration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189317"/>
                  </a:ext>
                </a:extLst>
              </a:tr>
              <a:tr h="25394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research proposal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Research Review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5297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AB4D19C-0E12-89BF-5734-FEFB7FF3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5005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US" sz="3600"/>
              <a:t>AI Innovation &amp; Startup Ecosystem 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182749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F51D-6E40-B6D9-D9D5-B11D0DDD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3C65-B7AA-1F71-ADFF-72A432599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5824"/>
            <a:ext cx="12192000" cy="2526352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AI Awareness, Outreach &amp; Ecosystem Engagement– PMU Support and Deliverables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729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A7B2-73CB-4F34-A31B-12D60DC3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293914"/>
            <a:ext cx="10515600" cy="939574"/>
          </a:xfrm>
        </p:spPr>
        <p:txBody>
          <a:bodyPr>
            <a:normAutofit/>
          </a:bodyPr>
          <a:lstStyle/>
          <a:p>
            <a:r>
              <a:rPr lang="en-US" sz="3200"/>
              <a:t>AI Awareness, Outreach &amp; Ecosystem</a:t>
            </a:r>
            <a:endParaRPr lang="en-IN" sz="3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4EB954-A0D5-8947-2A73-7257269F1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038393"/>
              </p:ext>
            </p:extLst>
          </p:nvPr>
        </p:nvGraphicFramePr>
        <p:xfrm>
          <a:off x="549729" y="1127106"/>
          <a:ext cx="11092542" cy="5326317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61939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29173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13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295718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 of </a:t>
                      </a:r>
                      <a:r>
                        <a:rPr lang="en-US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Public Relations </a:t>
                      </a:r>
                      <a:endParaRPr lang="en-IN" sz="16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development of communication campaigns and IEC content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IEC Content &amp; Communication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84325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standardized outreach templates and communication toolkits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Mission Outreach Toolkit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1653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preparation of district-level communication plans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District Outreach Communication Plans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57786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District Administration 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preparation of district-level communication plans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District Outreach Communication Plans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383022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 outreach campaigns and analyse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Media Monitoring &amp; Outreach Analytics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97148"/>
                  </a:ext>
                </a:extLst>
              </a:tr>
              <a:tr h="168982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Awareness Campaigns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 stakeholder mapping for awareness campaigns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Stakeholder Mapping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50131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AI awareness campaign strategy for different target 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Awareness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189317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multilingual IEC materials and outreach content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IEC Content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52972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Knowledge Management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standardized case study templates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 Study Documentation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465815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annual knowledge compendium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Mission Knowledge Compendium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81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532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1331-00A2-C08D-5CFA-210EE1A3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5A6E-646D-6944-78EB-0B3C3211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293914"/>
            <a:ext cx="10515600" cy="939574"/>
          </a:xfrm>
        </p:spPr>
        <p:txBody>
          <a:bodyPr>
            <a:normAutofit/>
          </a:bodyPr>
          <a:lstStyle/>
          <a:p>
            <a:r>
              <a:rPr lang="en-US" sz="3200"/>
              <a:t>AI Awareness, Outreach &amp; Ecosystem</a:t>
            </a:r>
            <a:endParaRPr lang="en-IN" sz="3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E4A52F-8B35-B13D-0752-B4D109C9B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138710"/>
              </p:ext>
            </p:extLst>
          </p:nvPr>
        </p:nvGraphicFramePr>
        <p:xfrm>
          <a:off x="549729" y="1055080"/>
          <a:ext cx="11092542" cy="5679232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587284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2727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588033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Knowledge Series, Workshops &amp; Public Lectures</a:t>
                      </a:r>
                      <a:endParaRPr lang="en-IN" sz="18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annual calendar for knowledge 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Knowledge Series Calendar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84325"/>
                  </a:ext>
                </a:extLst>
              </a:tr>
              <a:tr h="5880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Identify knowledge partners, speakers and institutions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 &amp; Knowledge Partner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1653"/>
                  </a:ext>
                </a:extLst>
              </a:tr>
              <a:tr h="5880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themes aligned with Mission priorities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Thematic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57786"/>
                  </a:ext>
                </a:extLst>
              </a:tr>
              <a:tr h="58803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Conferences, Summits &amp; Outreach Events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Facilitate partnerships with academic institutions, industry and government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Partnership &amp; Sponsorship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383022"/>
                  </a:ext>
                </a:extLst>
              </a:tr>
              <a:tr h="5880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agenda design and speaker 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Conference Agenda &amp; Speaker Briefs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97148"/>
                  </a:ext>
                </a:extLst>
              </a:tr>
              <a:tr h="588033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Community &amp; Inclusive Outreach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inclusive outreach strategy for tribal communities, women and underserved 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Inclusive Outreach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50131"/>
                  </a:ext>
                </a:extLst>
              </a:tr>
              <a:tr h="33601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localized communication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Multilingual IEC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02734"/>
                  </a:ext>
                </a:extLst>
              </a:tr>
              <a:tr h="5880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stakeholder mapping of SHGs, CSOs and community institutions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Community Stakeholder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189317"/>
                  </a:ext>
                </a:extLst>
              </a:tr>
              <a:tr h="5880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 outreach coverage across districts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Inclusion Monitoring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5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3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0306-E51B-6704-57A4-C6653C1E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B13F-E45E-33C2-069E-F913574F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43791"/>
            <a:ext cx="12192000" cy="1770418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Secure &amp; Responsible AI– PMU Support and Deliverables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81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0B3142-FC2E-8574-53AA-33E58C923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938173"/>
              </p:ext>
            </p:extLst>
          </p:nvPr>
        </p:nvGraphicFramePr>
        <p:xfrm>
          <a:off x="549729" y="1135344"/>
          <a:ext cx="11092542" cy="625538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52795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38317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202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33314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Alignment with Government of India Frameworks</a:t>
                      </a:r>
                      <a:endParaRPr lang="en-IN" sz="16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national laws, policies and advisories relevant to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Regulatory Landscape Assessment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84325"/>
                  </a:ext>
                </a:extLst>
              </a:tr>
              <a:tr h="33314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guidance notes for departments on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 Advisory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1653"/>
                  </a:ext>
                </a:extLst>
              </a:tr>
              <a:tr h="25669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Governance &amp; Privacy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model data governance templates and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Governance Toolkit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383022"/>
                  </a:ext>
                </a:extLst>
              </a:tr>
              <a:tr h="475918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departments in adoption of data governance practices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Departmental Data Governance Advisory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97148"/>
                  </a:ext>
                </a:extLst>
              </a:tr>
              <a:tr h="33314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Security-by-Design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baseline security recommendations for AI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Security-by-Design Guidance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50131"/>
                  </a:ext>
                </a:extLst>
              </a:tr>
              <a:tr h="2566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standard security checklist for AI solution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Security Checklist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02734"/>
                  </a:ext>
                </a:extLst>
              </a:tr>
              <a:tr h="333143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Departmental Trusted AI Readiness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 departmental awareness sessions on Responsible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 Orientation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564717"/>
                  </a:ext>
                </a:extLst>
              </a:tr>
              <a:tr h="44338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Assist departments in applying Responsible AI templates and checklists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Responsible AI Compliance Toolkit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49282"/>
                  </a:ext>
                </a:extLst>
              </a:tr>
              <a:tr h="44338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training modules on Responsible AI, privacy and AI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 Modules &amp; Learning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653602"/>
                  </a:ext>
                </a:extLst>
              </a:tr>
              <a:tr h="33314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awareness manuals and guidance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Manuals &amp; Guidance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831745"/>
                  </a:ext>
                </a:extLst>
              </a:tr>
              <a:tr h="33314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Standardization &amp; Toolkits</a:t>
                      </a:r>
                      <a:endParaRPr lang="en-IN" sz="16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AI risk assessment templates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Risk Assessment 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452437"/>
                  </a:ext>
                </a:extLst>
              </a:tr>
              <a:tr h="37608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vendor due diligence formats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Vendor Due Diligence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0730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E24DC92-8DE8-CED7-EF1D-47CE82FA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293914"/>
            <a:ext cx="10515600" cy="939574"/>
          </a:xfrm>
        </p:spPr>
        <p:txBody>
          <a:bodyPr>
            <a:normAutofit/>
          </a:bodyPr>
          <a:lstStyle/>
          <a:p>
            <a:r>
              <a:rPr lang="en-US" sz="3200"/>
              <a:t>Secure &amp; Responsible AI</a:t>
            </a:r>
            <a:endParaRPr lang="en-IN" sz="3200"/>
          </a:p>
        </p:txBody>
      </p:sp>
    </p:spTree>
    <p:extLst>
      <p:ext uri="{BB962C8B-B14F-4D97-AF65-F5344CB8AC3E}">
        <p14:creationId xmlns:p14="http://schemas.microsoft.com/office/powerpoint/2010/main" val="871476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6950-2359-1677-A062-8FAA5293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6453-3CE6-8AD1-2588-C4E05DC1A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43791"/>
            <a:ext cx="12192000" cy="1770418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Strengthening AI-Enabled Governance– PMU Support and Deliverables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93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5F41-C8D5-C8C7-24DD-A07A4922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89FC7A-7ED0-E263-04C9-BFB421661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55959"/>
              </p:ext>
            </p:extLst>
          </p:nvPr>
        </p:nvGraphicFramePr>
        <p:xfrm>
          <a:off x="549729" y="1352320"/>
          <a:ext cx="11092542" cy="478047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52795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38317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2057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499047">
                <a:tc row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 AI Readiness,  Use-case Identification and AI Adoption Roadmaps</a:t>
                      </a:r>
                      <a:endParaRPr lang="en-IN" sz="18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Identify governance pain points, process inefficiencies and citizen service gaps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 Diagnostic &amp; Opportunity Assessment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84325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Facilitate AI use-case discovery workshops with departments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Department-wise AI Use-case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1653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Benchmark comparable AI implementations from other governments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Practice &amp; Benchmarking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383022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Prioritize AI use-cases based on feasibility and public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Use-case Prioritization Matrix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297148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Recommend phased implementation and scale-up pathways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Implementation Roadmap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910272"/>
                  </a:ext>
                </a:extLst>
              </a:tr>
              <a:tr h="49904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Government Generative AI Guidance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guidance for government use of Generative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Government Generative AI Usage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50131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model prompts, disclosure guidance and review protocols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Generative AI Operational Toolkit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0273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9A12547-622F-EF35-1EEB-1DC15BF8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293914"/>
            <a:ext cx="10515600" cy="939574"/>
          </a:xfrm>
        </p:spPr>
        <p:txBody>
          <a:bodyPr>
            <a:normAutofit/>
          </a:bodyPr>
          <a:lstStyle/>
          <a:p>
            <a:r>
              <a:rPr lang="en-US" sz="3200"/>
              <a:t>Strengthening AI-Enabled Governance</a:t>
            </a:r>
            <a:endParaRPr lang="en-IN" sz="3200"/>
          </a:p>
        </p:txBody>
      </p:sp>
    </p:spTree>
    <p:extLst>
      <p:ext uri="{BB962C8B-B14F-4D97-AF65-F5344CB8AC3E}">
        <p14:creationId xmlns:p14="http://schemas.microsoft.com/office/powerpoint/2010/main" val="4142328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F04671-C8FD-EBAE-EF07-778DDD150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425244"/>
              </p:ext>
            </p:extLst>
          </p:nvPr>
        </p:nvGraphicFramePr>
        <p:xfrm>
          <a:off x="549729" y="1522802"/>
          <a:ext cx="11092542" cy="414039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3010551516"/>
                    </a:ext>
                  </a:extLst>
                </a:gridCol>
                <a:gridCol w="5279571">
                  <a:extLst>
                    <a:ext uri="{9D8B030D-6E8A-4147-A177-3AD203B41FA5}">
                      <a16:colId xmlns:a16="http://schemas.microsoft.com/office/drawing/2014/main" val="73476817"/>
                    </a:ext>
                  </a:extLst>
                </a:gridCol>
                <a:gridCol w="3831770">
                  <a:extLst>
                    <a:ext uri="{9D8B030D-6E8A-4147-A177-3AD203B41FA5}">
                      <a16:colId xmlns:a16="http://schemas.microsoft.com/office/drawing/2014/main" val="822791322"/>
                    </a:ext>
                  </a:extLst>
                </a:gridCol>
              </a:tblGrid>
              <a:tr h="2057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Workstream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253686"/>
                  </a:ext>
                </a:extLst>
              </a:tr>
              <a:tr h="499047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Application Repository &amp; Technical Coordination</a:t>
                      </a: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Mission Directorate in documenting AI applications across departments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AI Application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564717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 AI use-case catalogue with implementation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Use-case Catalogue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49282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 implementation progress of departmental AI initiatives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Project Tracking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653602"/>
                  </a:ext>
                </a:extLst>
              </a:tr>
              <a:tr h="499047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Capacity Building for AI-enabled Governance</a:t>
                      </a:r>
                      <a:endParaRPr lang="en-IN" sz="1800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 departmental consultations for AI 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Consultation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452437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integration planning with existing digital governance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Integration Advisory Manual/Report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07305"/>
                  </a:ext>
                </a:extLst>
              </a:tr>
              <a:tr h="49904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142" marR="4514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 orientation modules for AI 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 Modules, AI Governance Handbook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28929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FD07729-BCD8-DB4D-B46C-F055307E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293914"/>
            <a:ext cx="10515600" cy="939574"/>
          </a:xfrm>
        </p:spPr>
        <p:txBody>
          <a:bodyPr>
            <a:normAutofit/>
          </a:bodyPr>
          <a:lstStyle/>
          <a:p>
            <a:r>
              <a:rPr lang="en-US" sz="3200"/>
              <a:t>Strengthening AI-Enabled Governance</a:t>
            </a:r>
            <a:endParaRPr lang="en-IN" sz="3200"/>
          </a:p>
        </p:txBody>
      </p:sp>
    </p:spTree>
    <p:extLst>
      <p:ext uri="{BB962C8B-B14F-4D97-AF65-F5344CB8AC3E}">
        <p14:creationId xmlns:p14="http://schemas.microsoft.com/office/powerpoint/2010/main" val="372955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2315</Words>
  <Application>Microsoft Office PowerPoint</Application>
  <PresentationFormat>Widescreen</PresentationFormat>
  <Paragraphs>358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Chhattisgarh AI Mission Implementation Roadmap</vt:lpstr>
      <vt:lpstr>Implementation Roadmap Strategy</vt:lpstr>
      <vt:lpstr>Phase I (Months 1–3): Mobilisation &amp; Use Case Discovery</vt:lpstr>
      <vt:lpstr>Phase II (Months 4–6): Pilot Design &amp; Ecosystem Activation</vt:lpstr>
      <vt:lpstr>Phase III (Months 7–9): Pilot Implementation</vt:lpstr>
      <vt:lpstr>PowerPoint Presentation</vt:lpstr>
      <vt:lpstr>AI Talent and Institutional Capacity– PMU Support and Deliverables</vt:lpstr>
      <vt:lpstr>AI Talent and Institutional Capacity</vt:lpstr>
      <vt:lpstr>AI Talent and Institutional Capacity</vt:lpstr>
      <vt:lpstr>AI Innovation &amp; Startup Ecosystem – PMU Support and Deliverables</vt:lpstr>
      <vt:lpstr>AI Innovation &amp; Startup Ecosystem </vt:lpstr>
      <vt:lpstr>AI Innovation &amp; Startup Ecosystem </vt:lpstr>
      <vt:lpstr>AI Innovation &amp; Startup Ecosystem </vt:lpstr>
      <vt:lpstr>AI Awareness, Outreach &amp; Ecosystem Engagement– PMU Support and Deliverables</vt:lpstr>
      <vt:lpstr>AI Awareness, Outreach &amp; Ecosystem</vt:lpstr>
      <vt:lpstr>AI Awareness, Outreach &amp; Ecosystem</vt:lpstr>
      <vt:lpstr>Secure &amp; Responsible AI– PMU Support and Deliverables</vt:lpstr>
      <vt:lpstr>Secure &amp; Responsible AI</vt:lpstr>
      <vt:lpstr>Strengthening AI-Enabled Governance– PMU Support and Deliverables</vt:lpstr>
      <vt:lpstr>Strengthening AI-Enabled Governance</vt:lpstr>
      <vt:lpstr>Strengthening AI-Enabled Governance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Jaidwal, Bhavna</dc:creator>
  <cp:lastModifiedBy>Garg, Vibha</cp:lastModifiedBy>
  <cp:revision>2</cp:revision>
  <dcterms:created xsi:type="dcterms:W3CDTF">2026-06-30T06:54:44Z</dcterms:created>
  <dcterms:modified xsi:type="dcterms:W3CDTF">2026-06-30T17:05:43Z</dcterms:modified>
</cp:coreProperties>
</file>